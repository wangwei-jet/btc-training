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98567" y="914400"/>
            <a:ext cx="2194560" cy="2194560"/>
          </a:xfrm>
          <a:prstGeom prst="roundRect">
            <a:avLst>
              <a:gd name="adj" fmla="val 4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98567" y="11887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000000"/>
                </a:solidFill>
                <a:latin typeface="Arial"/>
              </a:defRPr>
            </a:pPr>
            <a:r>
              <a:t>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Microsoft YaHei"/>
              </a:defRPr>
            </a:pPr>
            <a:r>
              <a:t>比特币 &amp; 区块链 内部培训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从密码朋克到数字文明 —— 完整的技术、经济与行业指南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2026年6月 | 仅供内部培训使用 | 不构成投资建议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5852160"/>
            <a:ext cx="3657600" cy="27432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内容概览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8个章节，从历史到未来构建完整知识框架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2/62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576218" cy="1828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864" cy="18288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32561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📜 第 1 章 · 历史脉络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95728"/>
            <a:ext cx="325617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密码朋克→白皮书→减半→ETF→Ordinals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920240"/>
            <a:ext cx="3576218" cy="1828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920240"/>
            <a:ext cx="54864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0618" y="2029968"/>
            <a:ext cx="32561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⚙ 第 2-3 章 · 原理与技术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395728"/>
            <a:ext cx="325617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哈希/签名/UTXO/PoW——BTC 底层完整拆解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920240"/>
            <a:ext cx="3576218" cy="1828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6836" y="1920240"/>
            <a:ext cx="5486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9716" y="2029968"/>
            <a:ext cx="32561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🔗 第 4-5 章 · 架构与版图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9716" y="2395728"/>
            <a:ext cx="325617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六层架构/共识机制/L1-L2/DeFi 行业全景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3576218" cy="1828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54864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41648"/>
            <a:ext cx="32561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📊 第 6 章 · 专题深入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07408"/>
            <a:ext cx="325617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稳定币/DeFi风险/ETF机构化/AI 影响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7738" y="3931920"/>
            <a:ext cx="3576218" cy="1828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07738" y="3931920"/>
            <a:ext cx="54864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0618" y="4041648"/>
            <a:ext cx="32561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🛡 第 7 章 · 风险与监管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0618" y="4407408"/>
            <a:ext cx="325617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五层风险框架/全球监管/研究检查清单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6836" y="3931920"/>
            <a:ext cx="3576218" cy="1828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6836" y="3931920"/>
            <a:ext cx="54864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9716" y="4041648"/>
            <a:ext cx="325617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🔮 第 8 章 · 未来趋势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9716" y="4407408"/>
            <a:ext cx="325617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BTC 长期叙事/五个确定性趋势/AI 经济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0 · 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为什么公司需要理解 BTC/区块链？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3/62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515258" cy="29260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🔧 理解技术趋势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319521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区块链是价值互联网的基础协议。像1990年代理解TCP/IP一样，理解区块链的底层逻辑对技术从业者至关重要。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6778" y="2011680"/>
            <a:ext cx="3515258" cy="29260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46778" y="2011680"/>
            <a:ext cx="54864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9658" y="212140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📊 理解行业变革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487168"/>
            <a:ext cx="319521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DeFi、稳定币、RWA、ETF 正在重塑金融基础设施。无论公司业务是否涉及加密，这些变革都会间接影响行业格局。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4916" y="2011680"/>
            <a:ext cx="3515258" cy="29260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44916" y="2011680"/>
            <a:ext cx="54864" cy="2926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7796" y="212140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🛡️ 理解风险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2487168"/>
            <a:ext cx="319521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AI 时代更需要可验证的稀缺资产、数字身份和链上证明。理解这些概念有助于未来的业务决策。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0 · 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学习路线图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4/62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本培训按【为什么出现 → 怎么运转 → 行业版图 → 风险与未来】逻辑组织，8章循序渐进。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657600"/>
            <a:ext cx="1261872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3749040"/>
            <a:ext cx="11155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第 1 章</a:t>
            </a:r>
            <a:br/>
            <a:r>
              <a:t>历史脉络</a:t>
            </a:r>
            <a:br/>
            <a:r>
              <a:t>为什么出现?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43434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4792" y="3657600"/>
            <a:ext cx="1261872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7944" y="3749040"/>
            <a:ext cx="11155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第 2 章</a:t>
            </a:r>
            <a:br/>
            <a:r>
              <a:t>解决的问题</a:t>
            </a:r>
            <a:br/>
            <a:r>
              <a:t>双花/信任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43434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5264" y="3657600"/>
            <a:ext cx="1261872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3749040"/>
            <a:ext cx="11155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第 3 章</a:t>
            </a:r>
            <a:br/>
            <a:r>
              <a:t>BTC 技术原理</a:t>
            </a:r>
            <a:br/>
            <a:r>
              <a:t>哈希→PoW→UTXO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43434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45736" y="3657600"/>
            <a:ext cx="1261872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3749040"/>
            <a:ext cx="11155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第 4 章</a:t>
            </a:r>
            <a:br/>
            <a:r>
              <a:t>区块链通用架构</a:t>
            </a:r>
            <a:br/>
            <a:r>
              <a:t>共识/L1/L2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8" y="43434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657600"/>
            <a:ext cx="1261872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749040"/>
            <a:ext cx="11155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第 5 章</a:t>
            </a:r>
            <a:br/>
            <a:r>
              <a:t>行业版图</a:t>
            </a:r>
            <a:br/>
            <a:r>
              <a:t>全景结构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43434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80" y="3657600"/>
            <a:ext cx="1261872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9832" y="3749040"/>
            <a:ext cx="11155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第 6 章</a:t>
            </a:r>
            <a:br/>
            <a:r>
              <a:t>专题深入</a:t>
            </a:r>
            <a:br/>
            <a:r>
              <a:t>稳定币/DeFi/AI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43434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17152" y="3657600"/>
            <a:ext cx="1261872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0304" y="3749040"/>
            <a:ext cx="11155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第 7 章</a:t>
            </a:r>
            <a:br/>
            <a:r>
              <a:t>风险与监管</a:t>
            </a:r>
            <a:br/>
            <a:r>
              <a:t>五层框架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9024" y="43434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07624" y="3657600"/>
            <a:ext cx="1261872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0776" y="3749040"/>
            <a:ext cx="11155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第 8 章</a:t>
            </a:r>
            <a:br/>
            <a:r>
              <a:t>未来趋势</a:t>
            </a:r>
            <a:br/>
            <a:r>
              <a:t>长期展望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7931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Microsoft YaHei"/>
              </a:defRPr>
            </a:pPr>
            <a:r>
              <a:t>历史脉络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从密码朋克的幻想到全球金融基础设施 —— Bitcoin 不是凭空诞生的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5/62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1 ·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密码朋克运动与电子现金梦想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1980s-2008 · Bitcoin 是数十年思想和技术的集大成者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6/62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密码朋克（Cypherpunk）运动始于1980年代末，核心理念：用密码学保护隐私，用技术实现自由。</a:t>
            </a:r>
            <a:br/>
            <a:r>
              <a:t>1993年 Eric Hughes 发表【密码朋克宣言】：隐私是电子时代开放社会的必要条件。</a:t>
            </a:r>
            <a:br/>
            <a:r>
              <a:t>关键先驱：David Chaum（盲签名）、Phil Zimmermann（PGP）、Tim May（密码无政府主义）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023360"/>
            <a:ext cx="1554480" cy="146304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4114800"/>
            <a:ext cx="14081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1976</a:t>
            </a:r>
            <a:br/>
            <a:r>
              <a:t>Diffie-Hellman</a:t>
            </a:r>
            <a:br/>
            <a:r>
              <a:t>公钥密码学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6177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4023360"/>
            <a:ext cx="1554480" cy="146304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1992" y="4114800"/>
            <a:ext cx="14081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1983</a:t>
            </a:r>
            <a:br/>
            <a:r>
              <a:t>Chaum eCash</a:t>
            </a:r>
            <a:br/>
            <a:r>
              <a:t>盲签名电子现金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46177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4023360"/>
            <a:ext cx="1554480" cy="146304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5072" y="4114800"/>
            <a:ext cx="14081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1991</a:t>
            </a:r>
            <a:br/>
            <a:r>
              <a:t>PGP 发布</a:t>
            </a:r>
            <a:br/>
            <a:r>
              <a:t>邮件加密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6177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4023360"/>
            <a:ext cx="1554480" cy="146304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88152" y="4114800"/>
            <a:ext cx="14081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1993</a:t>
            </a:r>
            <a:br/>
            <a:r>
              <a:t>密码朋克宣言</a:t>
            </a:r>
            <a:br/>
            <a:r>
              <a:t>隐私 = 权利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6177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4023360"/>
            <a:ext cx="1554480" cy="146304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2" y="4114800"/>
            <a:ext cx="14081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1997</a:t>
            </a:r>
            <a:br/>
            <a:r>
              <a:t>Hashcash (PoW)</a:t>
            </a:r>
            <a:br/>
            <a:r>
              <a:t>Adam 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6177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4023360"/>
            <a:ext cx="1554480" cy="146304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2" y="4114800"/>
            <a:ext cx="140817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1998</a:t>
            </a:r>
            <a:br/>
            <a:r>
              <a:t>b-money</a:t>
            </a:r>
            <a:br/>
            <a:r>
              <a:t>Bit Gold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1 ·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早期电子现金方案：为什么都失败了？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7/62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20116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139696"/>
            <a:ext cx="1865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方案 / 人物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210312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21396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核心创新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103120"/>
            <a:ext cx="3200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9472" y="213969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解决的部分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103120"/>
            <a:ext cx="347472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2139696"/>
            <a:ext cx="33284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遗留的问题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20116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459736"/>
            <a:ext cx="1865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eCash (Chaum, 1983)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42316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472" y="24597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盲签名→隐私支付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42316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245973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银行看不到谁付给谁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423160"/>
            <a:ext cx="34747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459736"/>
            <a:ext cx="33284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依赖中心化服务器；DigiCash 1998年破产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43200"/>
            <a:ext cx="20116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779776"/>
            <a:ext cx="1865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Hashcash (Back, 1997)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74320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27797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PoW 防垃圾邮件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74320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9472" y="27797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每封邮件附带计算成本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743200"/>
            <a:ext cx="34747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2" y="2779776"/>
            <a:ext cx="33284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每个PoW只能用一次，无法形成货币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063240"/>
            <a:ext cx="20116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099816"/>
            <a:ext cx="1865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b-money (Dai, 1998)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06324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33472" y="30998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去中心化账本+PoW铸币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306324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19472" y="309981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首次提出完整概念框架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063240"/>
            <a:ext cx="34747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9872" y="3099816"/>
            <a:ext cx="33284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缺乏具体实现和Sybil防御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383280"/>
            <a:ext cx="20116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419856"/>
            <a:ext cx="1865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Bit Gold (Szabo, 1998)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38328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33472" y="34198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PoW链+时间戳+稀缺性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338328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19472" y="341985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最接近Bitcoin的设计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3383280"/>
            <a:ext cx="34747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19872" y="3419856"/>
            <a:ext cx="33284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缺少难度调整；双花问题未解决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1 ·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2008-2009：比特币的诞生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8/62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10972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" cy="109728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📄 白皮书发布 · 2008.10.31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4983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中本聪在密码学邮件列表发布【Bitcoin: A Peer-to-Peer Electronic Cash System】，仅9页引用8篇文献。核心创新：P2P网络+PoW+最长链规则。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5486400" cy="10972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011680"/>
            <a:ext cx="54864" cy="109728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2140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⛏️ 创世区块 · 2009.1.3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487168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区块 #0 被挖出，Coinbase 嵌入泰晤士报标题。既是政治声明，也是时间戳证明——表明该区块不可能在2009.1.3之前创建。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164592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419856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日期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383280"/>
            <a:ext cx="5029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67712" y="341985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事件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3383280"/>
            <a:ext cx="47548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3419856"/>
            <a:ext cx="46085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意义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16459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739896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2009.1.9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3703320"/>
            <a:ext cx="5029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67712" y="373989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Bitcoin v0.1 发布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703320"/>
            <a:ext cx="47548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3739896"/>
            <a:ext cx="46085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第一个比特币客户端软件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23360"/>
            <a:ext cx="16459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059936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2009.1.12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4023360"/>
            <a:ext cx="5029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67712" y="405993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第一笔BTC交易 (中本聪→Hal Finney)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4023360"/>
            <a:ext cx="47548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96912" y="4059936"/>
            <a:ext cx="46085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10 BTC，证明系统可用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343400"/>
            <a:ext cx="16459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379976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2010.5.22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4343400"/>
            <a:ext cx="5029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67712" y="437997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比特币披萨日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4343400"/>
            <a:ext cx="47548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6912" y="4379976"/>
            <a:ext cx="46085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10,000 BTC 买两份披萨，首次实物交易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63440"/>
            <a:ext cx="16459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700016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2010.7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4663440"/>
            <a:ext cx="5029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67712" y="470001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Mt.Gox 交易所成立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663440"/>
            <a:ext cx="47548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96912" y="4700016"/>
            <a:ext cx="46085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后来成为最大教训——850K BTC 被盗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983480"/>
            <a:ext cx="16459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5020056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2010.12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983480"/>
            <a:ext cx="5029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67712" y="502005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中本聪消失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4983480"/>
            <a:ext cx="47548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96912" y="5020056"/>
            <a:ext cx="46085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最后一条公开消息后彻底消失，身份成谜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303520"/>
            <a:ext cx="16459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" y="5340096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2011.2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94560" y="5303520"/>
            <a:ext cx="5029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67712" y="534009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BTC 首次达到 1 美元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5303520"/>
            <a:ext cx="47548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96912" y="5340096"/>
            <a:ext cx="46085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从 0 到 $1，走了两年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1 ·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历次减半周期与行业演进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9/62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3716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减半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2011680"/>
            <a:ext cx="13716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204825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日期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01168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20482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奖励变化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2011680"/>
            <a:ext cx="621792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2048256"/>
            <a:ext cx="6071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后续行业发展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371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36829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第1次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331720"/>
            <a:ext cx="1371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236829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2012.11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33172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23682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50→25 BTC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331720"/>
            <a:ext cx="62179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50992" y="2368296"/>
            <a:ext cx="6071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Mt.Gox崩溃，ASIC矿机，BTC进入主流视野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51760"/>
            <a:ext cx="1371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8833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第2次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2651760"/>
            <a:ext cx="1371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93392" y="268833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2016.7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65176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26883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25→12.5 BTC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651760"/>
            <a:ext cx="62179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50992" y="2688336"/>
            <a:ext cx="6071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Ethereum上线，ICO狂潮，SegWit，BCH分叉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971800"/>
            <a:ext cx="1371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00837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第3次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2971800"/>
            <a:ext cx="1371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93392" y="300837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2020.5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297180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64992" y="30083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12.5→6.25 BTC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2971800"/>
            <a:ext cx="62179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50992" y="3008376"/>
            <a:ext cx="6071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DeFi Summer，NFT爆发，机构入场(MicroStrategy/Tesla)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91840"/>
            <a:ext cx="1371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32841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第4次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3291840"/>
            <a:ext cx="1371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93392" y="332841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2024.4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329184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64992" y="33284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6.25→3.125 BTC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3291840"/>
            <a:ext cx="62179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50992" y="3328416"/>
            <a:ext cx="6071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Ordinals/BRC-20/Runes，比特币L2，AI矿业融合，ETF时代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297680"/>
            <a:ext cx="10972800" cy="1645920"/>
          </a:xfrm>
          <a:prstGeom prst="roundRect">
            <a:avLst>
              <a:gd name="adj" fmla="val 4000"/>
            </a:avLst>
          </a:prstGeom>
          <a:solidFill>
            <a:srgbClr val="2D1B0E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3891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931A"/>
                </a:solidFill>
                <a:latin typeface="Microsoft YaHei"/>
              </a:defRPr>
            </a:pPr>
            <a:r>
              <a:t>⚠️ 注意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6634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仅3次减半后的完整价格数据——样本量极小。历史表现不代表未来结果。</a:t>
            </a:r>
            <a:br/>
            <a:r>
              <a:t>减半与价格的关系受宏观流动性、监管政策、市场情绪等多重因素影响，不应被简化为【减半 = 涨价】。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1 ·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2024：现货 BTC ETF 获批与第四次减半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10/62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64327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32004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🏛️ 现货 BTC ETF 获批 (2024.1.10)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5044287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SEC 批准11支比特币现货ETF。BlackRock IBIT、Fidelity FBTC等。首个交易日交易量超$4.6B。</a:t>
            </a:r>
            <a:br/>
            <a:br/>
            <a:r>
              <a:t>意义：传统金融账户可合规配置BTC；大幅降低购买门槛；百亿美元级增量资金；BTC进入主流资产配置。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1920240"/>
            <a:ext cx="5364327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920240"/>
            <a:ext cx="54864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⛏️ 第四次减半 + 生态大爆发 (2024.4)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395728"/>
            <a:ext cx="5044287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区块奖励降至3.125 BTC。同时比特币生态创新爆发：</a:t>
            </a:r>
            <a:br/>
            <a:r>
              <a:t>  Ordinals铭文——数据铭刻到单个satoshi</a:t>
            </a:r>
            <a:br/>
            <a:r>
              <a:t>  BRC-20——比特币同质化代币标准</a:t>
            </a:r>
            <a:br/>
            <a:r>
              <a:t>  Runes符文——更高效代币协议（减半同日上线）</a:t>
            </a:r>
            <a:br/>
            <a:r>
              <a:t>  BitVM——比特币 ZK Rollup 验证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3B82F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Microsoft YaHei"/>
              </a:defRPr>
            </a:pPr>
            <a:r>
              <a:t>Bitcoin 解决了什么问题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双花、可信第三方、去中心化账本 —— 理解【为什么需要 BTC】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11/62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2 ·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双花问题：数字时代的「一张钞票付两次」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12/62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64327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💡 通俗类比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5044287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你有一张数字图片，发给A一份，再发给B一份——两人都拿到了「原图」。</a:t>
            </a:r>
            <a:br/>
            <a:br/>
            <a:r>
              <a:t>如果数字货币只是一串数字签名，怎么保证它不被复制和重复使用？</a:t>
            </a:r>
            <a:br/>
            <a:br/>
            <a:r>
              <a:t>传统方案：找银行（可信第三方）维护中心化账本——但你必须信任银行。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1920240"/>
            <a:ext cx="5364327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920240"/>
            <a:ext cx="54864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🔐 中本聪的解法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395728"/>
            <a:ext cx="5044287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① 公开广播所有交易（全网可见）</a:t>
            </a:r>
            <a:br/>
            <a:r>
              <a:t>② PoW 竞争记账（谁可以打包）</a:t>
            </a:r>
            <a:br/>
            <a:r>
              <a:t>③ 最长链规则（哪条链是有效的）</a:t>
            </a:r>
            <a:br/>
            <a:r>
              <a:t>④ 全网节点独立验证</a:t>
            </a:r>
            <a:br/>
            <a:br/>
            <a:r>
              <a:t>任何UTXO只要在最长链上被花过，后续消费尝试被直接拒绝。——不需要可信第三方。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2 ·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可信第三方问题 &amp; 中心化 vs 去中心化账本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13/62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信任层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011680"/>
            <a:ext cx="256032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204825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信任什么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2011680"/>
            <a:ext cx="33832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204825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011680"/>
            <a:ext cx="33832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04825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历史教训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36829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信任银行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33172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236829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银行不挪用存款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331720"/>
            <a:ext cx="3383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236829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部分准备金制度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331720"/>
            <a:ext cx="3383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36829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2008年金融危机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5176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8833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信任审查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65176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0592" y="268833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账户不被无故冻结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651760"/>
            <a:ext cx="3383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268833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中心化机构可单方面冻结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651760"/>
            <a:ext cx="3383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268833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2022加拿大自由车队事件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97180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00837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信任货币政策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297180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300837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央行不过度印钞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2971800"/>
            <a:ext cx="3383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300837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货币增发→购买力稀释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971800"/>
            <a:ext cx="3383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00837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2008后全球量化宽松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56616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A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657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🔑 关键洞察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931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中心化账本：银行维护唯一账本，用户信任银行。</a:t>
            </a:r>
            <a:br/>
            <a:r>
              <a:t>去中心化账本：每个全节点维护完整账本副本，独立验证一切。</a:t>
            </a:r>
            <a:br/>
            <a:br/>
            <a:r>
              <a:t>核心差异：谁来记账？谁来验证？篡改成本？</a:t>
            </a:r>
            <a:br/>
            <a:r>
              <a:t>Bitcoin 核心理念：Don't trust, verify.（不要信任，要验证）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356616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3566160"/>
            <a:ext cx="54864" cy="18288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67588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🔑 Bitcoin 的设计组合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041648"/>
            <a:ext cx="4983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① P2P网络 →广播交易和区块</a:t>
            </a:r>
            <a:br/>
            <a:r>
              <a:t>② 数字签名 →证明所有权（ECDSA）</a:t>
            </a:r>
            <a:br/>
            <a:r>
              <a:t>③ PoW工作量证明 →谁可以打包</a:t>
            </a:r>
            <a:br/>
            <a:r>
              <a:t>④ 全节点独立验证 →全网审计</a:t>
            </a:r>
            <a:br/>
            <a:br/>
            <a:r>
              <a:t>四个模块缺一不可。去掉可信第三方，用数学和经济激励替代。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2 ·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去中心化账本如何防止篡改？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14/62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3200400"/>
          </a:xfrm>
          <a:prstGeom prst="roundRect">
            <a:avLst>
              <a:gd name="adj" fmla="val 4000"/>
            </a:avLst>
          </a:prstGeom>
          <a:solidFill>
            <a:srgbClr val="0E1B2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💡 通俗类比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如果有人想篡改第 N 个区块的交易：</a:t>
            </a:r>
            <a:br/>
            <a:r>
              <a:t>① 必须重新计算第 N 个区块的 PoW</a:t>
            </a:r>
            <a:br/>
            <a:r>
              <a:t>② 必须重新计算 N+1 到当前所有区块的 PoW（每个区块包含前块哈希）</a:t>
            </a:r>
            <a:br/>
            <a:r>
              <a:t>③ 必须在全网其他节点追赶之前完成 → 需要 &gt;51% 全网算力</a:t>
            </a:r>
            <a:br/>
            <a:r>
              <a:t>④ 即使成功，全网节点发现分叉 → BTC 信任崩溃 → 篡改收益归零</a:t>
            </a:r>
            <a:br/>
            <a:br/>
            <a:r>
              <a:t>结论：篡改在技术上可能，在经济上完全不划算。这是博弈论，不是绝对安全。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2011680"/>
            <a:ext cx="54864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2140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🔗 链式哈希依赖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87168"/>
            <a:ext cx="49834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       Block N-1               Block N               Block N+1</a:t>
            </a:r>
            <a:br/>
            <a:r>
              <a:t>    +----------------+    +----------------+    +----------------+</a:t>
            </a:r>
            <a:br/>
            <a:r>
              <a:t>    | Prev: ...      |    | Prev: H(N-1)   |    | Prev: H(N)     |</a:t>
            </a:r>
            <a:br/>
            <a:r>
              <a:t>    | Hash: H(N-1)   | ←- | Hash: H(N)     | ←- | Hash: H(N+1)   |</a:t>
            </a:r>
            <a:br/>
            <a:r>
              <a:t>    | Tx: [A,B,C]    |    | Tx: [D,E,F]    |    | Tx: [G,H,I]    |</a:t>
            </a:r>
            <a:br/>
            <a:r>
              <a:t>    +----------------+    +----------------+    +----------------+</a:t>
            </a:r>
            <a:br/>
            <a:br/>
            <a:r>
              <a:t>修改 Block N-1 → H(N-1)改变 → Block N 的 Prev 对不上 → 整条链断裂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10B981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Microsoft YaHei"/>
              </a:defRPr>
            </a:pPr>
            <a:r>
              <a:t>BTC 技术原理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哈希→签名→UTXO→PoW→挖矿→减半 —— Bitcoin 底层机制完整拆解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15/62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3 ·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哈希函数 SHA-256：区块链的基石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16/62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1463040"/>
          </a:xfrm>
          <a:prstGeom prst="roundRect">
            <a:avLst>
              <a:gd name="adj" fmla="val 4000"/>
            </a:avLst>
          </a:prstGeom>
          <a:solidFill>
            <a:srgbClr val="0E1B2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💡 通俗类比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💡 哈希 = 数字世界的「文件指纹」</a:t>
            </a:r>
            <a:br/>
            <a:r>
              <a:t>像人的指纹——独一无二、无法从指纹反推外貌、微小变化导致完全不同指纹。</a:t>
            </a:r>
            <a:br/>
            <a:r>
              <a:t>SHA-256：任意长度输入 → 固定256位输出（64个十六进制字符）。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146304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2011680"/>
            <a:ext cx="54864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2140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🎯 五大特性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87168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① 确定性——同一输入永远产生同一输出</a:t>
            </a:r>
            <a:br/>
            <a:r>
              <a:t>② 单向性——从输出无法反推输入</a:t>
            </a:r>
            <a:br/>
            <a:r>
              <a:t>③ 雪崩效应——改1 bit，输出约50%翻转</a:t>
            </a:r>
            <a:br/>
            <a:r>
              <a:t>④ 碰撞抵抗——无法找两不同输入有相同输出</a:t>
            </a:r>
            <a:br/>
            <a:r>
              <a:t>⑤ 快速计算——每秒数百万次，但反向不可能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Microsoft YaHei"/>
              </a:defRPr>
            </a:pPr>
            <a:r>
              <a:t>SHA256("Hello") = 185f8db32271fe25f561a6fc938b2e264306ec304eda518007d1764826381969</a:t>
            </a:r>
            <a:br/>
            <a:r>
              <a:t>SHA256("hello") = 2cf24dba5fb0a30e26e83b2ac5b9e29e1b161e5c1fa7425e73043362938b9824</a:t>
            </a:r>
            <a:br/>
            <a:r>
              <a:t>仅一个字母大小写不同 → 输出完全不同（雪崩效应）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8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1208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21808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🔄 在 BTC 中的应用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87568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区块哈希 | 工作量证明(PoW) | 链式结构(前区块哈希) | 默克尔树 | 地址生成(SHA256→RIPEMD160)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3 ·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默克尔树 (Merkle Tree)：几千笔交易压缩为 32 字节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17/62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默克尔树 = 树形哈希结构，将区块内所有交易两两哈希，逐层向上，最终汇总为32字节的默克尔根。</a:t>
            </a:r>
            <a:br/>
            <a:br/>
            <a:r>
              <a:t>             Merkle Root (H_ABCD)</a:t>
            </a:r>
            <a:br/>
            <a:r>
              <a:t>            /                    \</a:t>
            </a:r>
            <a:br/>
            <a:r>
              <a:t>        H_AB                      H_CD</a:t>
            </a:r>
            <a:br/>
            <a:r>
              <a:t>       /    \                    /    \</a:t>
            </a:r>
            <a:br/>
            <a:r>
              <a:t>    H_A      H_B              H_C      H_D</a:t>
            </a:r>
            <a:br/>
            <a:r>
              <a:t>     ↑        ↑                ↑        ↑</a:t>
            </a:r>
            <a:br/>
            <a:r>
              <a:t>   TxA      TxB              TxC      TxD</a:t>
            </a:r>
            <a:br/>
            <a:br/>
            <a:r>
              <a:t>SPV轻节点只需区块头（80B/区块）+ 默克尔路径即可验证交易——不需要下载完整区块（1-4MB）。</a:t>
            </a:r>
            <a:br/>
            <a:r>
              <a:t>这是轻钱包、Rollup数据压缩、Lightning支付验证的核心原理。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3 ·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私钥、公钥、地址：三位一体的身份系统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18/62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ECDSA (椭圆曲线数字签名算法) · secp256k1 曲线 · 私钥 k → 公钥 K = k × G (G=生成点)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2286000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3291840"/>
            <a:ext cx="21396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私钥 k</a:t>
            </a:r>
            <a:br/>
            <a:r>
              <a:t>256位随机数</a:t>
            </a:r>
            <a:br/>
            <a:r>
              <a:t>绝对保密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886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3200400"/>
            <a:ext cx="2286000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3291840"/>
            <a:ext cx="21396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椭圆曲线乘法</a:t>
            </a:r>
            <a:br/>
            <a:r>
              <a:t>K = k x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886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200400"/>
            <a:ext cx="2286000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3291840"/>
            <a:ext cx="21396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SHA256 +</a:t>
            </a:r>
            <a:br/>
            <a:r>
              <a:t>RIPEMD160</a:t>
            </a:r>
            <a:br/>
            <a:r>
              <a:t>公钥哈希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8862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200400"/>
            <a:ext cx="2286000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3291840"/>
            <a:ext cx="21396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Base58Check</a:t>
            </a:r>
            <a:br/>
            <a:r>
              <a:t>编码</a:t>
            </a:r>
            <a:br/>
            <a:r>
              <a:t>BTC 地址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5364327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8172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🔑 核心安全属性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47488"/>
            <a:ext cx="504428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私钥→公钥 容易（一次椭圆曲线乘法）</a:t>
            </a:r>
            <a:br/>
            <a:r>
              <a:t>公钥→私钥 计算上不可能（离散对数问题）</a:t>
            </a:r>
            <a:br/>
            <a:r>
              <a:t>私钥空间 2^256 ≈ 10^77</a:t>
            </a:r>
            <a:br/>
            <a:br/>
            <a:r>
              <a:t>💡 私钥 = 签名印章 | 公钥 = 验章工具 | 地址 = 收件信箱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7" y="4572000"/>
            <a:ext cx="5364327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5847" y="4572000"/>
            <a:ext cx="54864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8727" y="468172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⚠️ 绝对重要的安全警告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5047488"/>
            <a:ext cx="504428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私钥 = 钱。谁有私钥谁就有所有权。</a:t>
            </a:r>
            <a:br/>
            <a:r>
              <a:t>没有密码找回机制，没有客服可以帮你重置。</a:t>
            </a:r>
            <a:br/>
            <a:r>
              <a:t>丢失私钥 = 永久丢失资产。</a:t>
            </a:r>
            <a:br/>
            <a:br/>
            <a:r>
              <a:t>据估计 15-20% BTC 已永久丢失（私钥遗失/硬盘损坏/所有者去世）。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3 ·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数字签名与钱包：钱包不存钱，钱包存密钥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19/62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64327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✍️ 数字签名流程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5044287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① Alice钱包选择UTXO，构造交易数据</a:t>
            </a:r>
            <a:br/>
            <a:r>
              <a:t>② 用私钥对交易哈希生成签名（ECDSA）</a:t>
            </a:r>
            <a:br/>
            <a:r>
              <a:t>③ 交易+签名广播到全网</a:t>
            </a:r>
            <a:br/>
            <a:r>
              <a:t>④ 任何节点用Alice公钥验证：</a:t>
            </a:r>
            <a:br/>
            <a:r>
              <a:t>签名确实来自Alice私钥 ✓  交易未被篡改 ✓</a:t>
            </a:r>
            <a:br/>
            <a:br/>
            <a:r>
              <a:t>核心：密码学替代银行授权验证——不需要信任任何人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1920240"/>
            <a:ext cx="5364327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920240"/>
            <a:ext cx="54864" cy="3200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🔐 HD 钱包 (BIP32/39/44)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395728"/>
            <a:ext cx="5044287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助记词(12/24个单词)→种子(512位)→主私钥→几乎无限个子私钥和地址</a:t>
            </a:r>
            <a:br/>
            <a:br/>
            <a:r>
              <a:t>一条助记词管理所有地址。备份一次即可。</a:t>
            </a:r>
            <a:br/>
            <a:br/>
            <a:r>
              <a:t>💡 钱包是 Key Manager，不是「存钱」的地方。</a:t>
            </a:r>
            <a:br/>
            <a:r>
              <a:t>比特币只存在于区块链这个去中心化账本上。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3 ·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⚠️ UTXO 模型：Bitcoin 没有「账户余额」！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20/62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0972800" cy="1097280"/>
          </a:xfrm>
          <a:prstGeom prst="roundRect">
            <a:avLst>
              <a:gd name="adj" fmla="val 4000"/>
            </a:avLst>
          </a:prstGeom>
          <a:solidFill>
            <a:srgbClr val="2D1B0E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931A"/>
                </a:solidFill>
                <a:latin typeface="Microsoft YaHei"/>
              </a:defRPr>
            </a:pPr>
            <a:r>
              <a:t>⚠️ 注意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Bitcoin 没有「账户余额」概念。你的「余额」是未花费的 UTXO 总和。</a:t>
            </a:r>
            <a:br/>
            <a:r>
              <a:t>这和银行账户模型是完全不同的两种设计——这是最常见的误解之一。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5303520" cy="2560320"/>
          </a:xfrm>
          <a:prstGeom prst="roundRect">
            <a:avLst>
              <a:gd name="adj" fmla="val 4000"/>
            </a:avLst>
          </a:prstGeom>
          <a:solidFill>
            <a:srgbClr val="0E1B2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💡 通俗类比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钱包里有不同面额纸钞：0.5 BTC、0.3 BTC、0.1 BTC。每张纸钞就是一个 UTXO。</a:t>
            </a:r>
            <a:br/>
            <a:br/>
            <a:r>
              <a:t>要付 0.7 BTC：拿出 0.5+0.3 两张钞票 → 付给收款人 0.7 → 找零 0.098 → 矿工费 0.002。</a:t>
            </a:r>
            <a:br/>
            <a:br/>
            <a:r>
              <a:t>找零是一张「新钞票」（新 UTXO），回到你的地址。</a:t>
            </a:r>
            <a:br/>
            <a:r>
              <a:t>你不需要「银行账户余额」——只需要看钱包里有哪些面额的 UTXO。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291840"/>
            <a:ext cx="5303520" cy="2560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3291840"/>
            <a:ext cx="54864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40156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✅ UTXO 模型的优势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767328"/>
            <a:ext cx="49834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• 并行处理——不同UTXO之间完全独立</a:t>
            </a:r>
            <a:br/>
            <a:r>
              <a:t>• 隐私——每次用新地址，比账户模型难追踪</a:t>
            </a:r>
            <a:br/>
            <a:r>
              <a:t>• 防双花天然——每个UTXO消费后永久失效</a:t>
            </a:r>
            <a:br/>
            <a:r>
              <a:t>• 可审计性——每个UTXO可追溯到Coinbase交易</a:t>
            </a:r>
            <a:br/>
            <a:br/>
            <a:r>
              <a:t>Input UTXO1(0.5) + UTXO2(0.3)</a:t>
            </a:r>
            <a:br/>
            <a:r>
              <a:t>→ Output1(0.7→Bob) + Output2(0.098→找零)</a:t>
            </a:r>
            <a:br/>
            <a:r>
              <a:t>手续费 = (0.5+0.3)-(0.7+0.098) = 0.002 BTC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3 ·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交易结构与 Mempool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21/62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200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交易组件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40" y="2011680"/>
            <a:ext cx="7772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22192" y="2048256"/>
            <a:ext cx="7626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36829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Inputs（输入）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2331720"/>
            <a:ext cx="7772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2" y="2368296"/>
            <a:ext cx="7626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引用已有UTXO：前交易哈希+输出索引+解锁脚本（签名+公钥）——「钱从哪来」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68833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Outputs（输出）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2651760"/>
            <a:ext cx="7772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2" y="2688336"/>
            <a:ext cx="7626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创建新UTXO：金额+锁定脚本（收款方地址条件）——「钱到哪去」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7180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0083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⚠️ 手续费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2971800"/>
            <a:ext cx="7772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2" y="3008376"/>
            <a:ext cx="7626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没有「手续费」字段！手续费 = 总输入 - 总输出。找零必须显式创建，否则余额全归矿工！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2841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Mempool（内存池）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3291840"/>
            <a:ext cx="7772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22192" y="3328416"/>
            <a:ext cx="7626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已广播但未确认交易的暂存区。矿工按手续费率(sat/vByte)从高到低选择交易打包。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1480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1A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06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🔑 关键洞察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4805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「没有手续费字段，手续费是输入减输出的差值」——这是面试高频问题，也是理解BTC交易的关键。</a:t>
            </a:r>
            <a:br/>
            <a:r>
              <a:t>找零必须显式创建——链上没有任何「自动找零」机制。不创建找零输出 → 剩余BTC全部成为矿工费！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3 ·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区块结构与 PoW 挖矿过程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22/62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256032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95681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920240"/>
            <a:ext cx="2743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95681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大小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920240"/>
            <a:ext cx="56692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25312" y="1956816"/>
            <a:ext cx="5522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27685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版本号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24028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22768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4 Bytes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240280"/>
            <a:ext cx="5669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5312" y="2276856"/>
            <a:ext cx="5522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区块格式版本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59689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前区块哈希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256032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82112" y="259689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32 Bytes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560320"/>
            <a:ext cx="5669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25312" y="2596896"/>
            <a:ext cx="5522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链接到前一个区块（链式结构核心）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8036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91693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默克尔根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288036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82112" y="291693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32 Bytes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880360"/>
            <a:ext cx="5669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25312" y="2916936"/>
            <a:ext cx="5522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区块内所有交易的汇总指纹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0040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23697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时间戳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20040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82112" y="323697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4 Bytes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3200400"/>
            <a:ext cx="5669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25312" y="3236976"/>
            <a:ext cx="5522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区块创建时间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52044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55701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难度目标(bits)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352044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82112" y="355701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4 Bytes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3520440"/>
            <a:ext cx="5669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25312" y="3557016"/>
            <a:ext cx="5522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当前PoW难度（哈希必须小于此值）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84048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87705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Nonce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384048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82112" y="38770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4 Bytes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3840480"/>
            <a:ext cx="5669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25312" y="3877056"/>
            <a:ext cx="5522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矿工不断改变的随机数（PoW计算对象）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16052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419709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Coinbase 交易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416052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82112" y="419709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可变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4160520"/>
            <a:ext cx="5669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25312" y="4197096"/>
            <a:ext cx="5522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每个区块第一笔交易——创币交易（无输入）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48056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51713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普通交易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448056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82112" y="451713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可变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160" y="4480560"/>
            <a:ext cx="5669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25312" y="4517136"/>
            <a:ext cx="5522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数百到数千笔普通交易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502920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0E1B2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51206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💡 通俗类比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5394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💡 PoW 挖矿 = 昂贵的公开抽签：不断掷2^256面骰子，要求掷出小于极端微小目标的结果。</a:t>
            </a:r>
            <a:br/>
            <a:r>
              <a:t>矿工不断改变Nonce→计算SHA256(SHA256(区块头))→检查&lt;难度目标?→不满足继续/满足→广播区块。</a:t>
            </a:r>
            <a:br/>
            <a:r>
              <a:t>全网每秒尝试数万亿次。找到有效哈希 = 全网把奖励给了你。谁都可以验证你是不是真的找到了。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3 ·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难度调整、确认数与 51% 攻击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23/62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64327" cy="2560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📐 难度调整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5044287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每2016个区块（约2周）自动调整。</a:t>
            </a:r>
            <a:br/>
            <a:r>
              <a:t>新难度 = 旧难度 x (实际2016块用时/20160分钟)</a:t>
            </a:r>
            <a:br/>
            <a:r>
              <a:t>约束：单次调整 ≤ 4倍</a:t>
            </a:r>
            <a:br/>
            <a:br/>
            <a:r>
              <a:t>保证无论全网算力如何变化，BTC始终约10分钟出一个块。即使大量矿工退出（如中国2021禁令），网络自动恢复。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1920240"/>
            <a:ext cx="5364327" cy="2560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920240"/>
            <a:ext cx="54864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🔢 确认数与概率最终性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395728"/>
            <a:ext cx="5044287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1确认 = 交易刚被埋进一个区块</a:t>
            </a:r>
            <a:br/>
            <a:r>
              <a:t>6确认 = 上面堆了6个区块</a:t>
            </a:r>
            <a:br/>
            <a:br/>
            <a:r>
              <a:t>Bitcoin 没有绝对最终性——理论上任何交易都可被更长分叉回滚。</a:t>
            </a:r>
            <a:br/>
            <a:r>
              <a:t>但6确认后回滚成本已高到不经济——概率最终性，随确认数指数级上升。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10972800" cy="16459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754880"/>
            <a:ext cx="54864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64608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🔴 51% 攻击：能做什么 vs 不能做什么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30368"/>
            <a:ext cx="10652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能做：① 双花（创建秘密分叉回滚自己的交易）② 选择性审查（拒绝打包特定交易）</a:t>
            </a:r>
            <a:br/>
            <a:r>
              <a:t>不能做：① 偷别人的币（没有私钥）② 凭空创造BTC（全节点会拒绝）③ 改变2100万上限（需要硬分叉共识）</a:t>
            </a:r>
            <a:br/>
            <a:r>
              <a:t>博弈论是最后防线：拥有51%算力的人诚实挖矿赚得比攻击多。但若非理性攻击者（如国家行为者），博弈论不适用。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3 ·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全节点 vs 矿工：两个最容易混淆的角色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24/62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3716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920240" y="2011680"/>
            <a:ext cx="3200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204825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全节点 (Full Node)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011680"/>
            <a:ext cx="3200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93792" y="204825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矿工 (Miner)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011680"/>
            <a:ext cx="3200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04825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关键差异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371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36829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功能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33172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93392" y="236829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下载并验证所有区块和交易，执行全部共识规则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33172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792" y="236829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投入算力参与PoW竞争，打包交易进区块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33172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36829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审计员 vs 记账员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51760"/>
            <a:ext cx="1371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8833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收益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265176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93392" y="268833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无直接收益（自愿运行）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65176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268833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区块奖励 + 手续费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65176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268833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有收益 vs 无收益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971800"/>
            <a:ext cx="1371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00837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权力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297180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93392" y="30083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最终裁判——拒绝不合规区块/交易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297180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30083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交易排序权——选择哪些交易进区块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97180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30083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节点拥有最终决定权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91840"/>
            <a:ext cx="1371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32841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案例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329184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93392" y="332841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2017 SegWit2x矿工90%支持扩容，但全节点社区反对→矿工让步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329184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93792" y="332841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矿工如不按规则打包，全节点无视他们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29184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332841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全节点通过选择软件版本控制共识规则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20624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1A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2976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🔑 关键洞察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「矿工控制 Bitcoin」是常见误区。全节点是网络的最终裁判——全节点通过选择运行哪个版本的软件来控制共识规则。</a:t>
            </a:r>
            <a:br/>
            <a:r>
              <a:t>矿工只是提供服务（打包），如果不按规则打包，全节点会拒绝他们的区块，他们的工作就毫无价值。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3 ·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2100 万上限与减半机制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25/62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64327" cy="29260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📉 2100 万怎么来的？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5044287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数学推导：Σ(210,000 x 50/2^i) for i=0→∞ = 21,000,000</a:t>
            </a:r>
            <a:br/>
            <a:r>
              <a:t>由于整数精度截断，实际 ≈ 20,999,999.9769 BTC</a:t>
            </a:r>
            <a:br/>
            <a:r>
              <a:t>2140年左右，区块奖励 &lt; 1 satoshi，实际上停止增发。</a:t>
            </a:r>
            <a:br/>
            <a:br/>
            <a:r>
              <a:t>能否改变？可以——通过硬分叉。但硬分叉后的链不再是原Bitcoin，每次改变2100万的提案都未获共识。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1920240"/>
            <a:ext cx="5364327" cy="29260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920240"/>
            <a:ext cx="54864" cy="2926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🔮 长期安全预算问题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395728"/>
            <a:ext cx="5044287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区块奖励不断减半→趋近于0→矿工收入越来越依赖手续费。</a:t>
            </a:r>
            <a:br/>
            <a:br/>
            <a:r>
              <a:t>乐观：Layer 2大批量交易+L1高价值结算产生充足手续费</a:t>
            </a:r>
            <a:br/>
            <a:r>
              <a:t>悲观：低交易量下算力下降可能威胁安全</a:t>
            </a:r>
            <a:br/>
            <a:br/>
            <a:r>
              <a:t>这是Bitcoin社区最大的开放问题之一——目前没有共识答案。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029200"/>
            <a:ext cx="1828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06577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时期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5029200"/>
            <a:ext cx="3200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50657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区块奖励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5029200"/>
            <a:ext cx="2743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50992" y="506577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累计产出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5029200"/>
            <a:ext cx="3200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50657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通胀率(年化)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4924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38581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2009-2012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534924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0592" y="538581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50 BTC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534924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50992" y="538581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1050 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534924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538581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~25% → ~12.5%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6928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7058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2012-2016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566928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570585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25 BTC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566928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0992" y="57058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1575 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566928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570585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~12.5% → ~4.2%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98932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602589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2016-2020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598932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50592" y="602589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12.5 BTC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598932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50992" y="602589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1837.5 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598932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602589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~4.2% → ~1.8%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30936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634593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2020-2024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630936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50592" y="634593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6.25 BTC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630936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50992" y="634593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1968.75 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630936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94192" y="634593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~1.8% → ~0.85%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662940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666597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2024-2028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7440" y="662940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50592" y="66659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3.125 BTC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662940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50992" y="666597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~2034 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662940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94192" y="66659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~0.85% → ~0.4%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3 ·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Taproot 升级 (2021) &amp; BTC 交易完整生命周期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26/62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64327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🌿 Taproot 升级 · 2021.11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5044287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Bitcoin 近年来最重要的协议改进：</a:t>
            </a:r>
            <a:br/>
            <a:r>
              <a:t>① Schnorr签名替代ECDSA——多签交易大小与单签相同</a:t>
            </a:r>
            <a:br/>
            <a:r>
              <a:t>② MAST——复杂脚本只暴露被执行分支</a:t>
            </a:r>
            <a:br/>
            <a:r>
              <a:t>③ Tapscript——更灵活的脚本语言</a:t>
            </a:r>
            <a:br/>
            <a:br/>
            <a:r>
              <a:t>为Lightning、多签、Ordinals铭文提供了更好的基础层。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1920240"/>
            <a:ext cx="5364327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920240"/>
            <a:ext cx="54864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🔄 一笔BTC交易的完整生命周期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395728"/>
            <a:ext cx="5044287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① 选择UTXO→② 构造交易→③ 私钥签名→④ 广播P2P→</a:t>
            </a:r>
            <a:br/>
            <a:r>
              <a:t>⑤ 进入Mempool→⑥ 矿工打包→⑦ PoW不断试Nonce→</a:t>
            </a:r>
            <a:br/>
            <a:r>
              <a:t>⑧ 找到有效哈希→⑨ 广播区块→⑩ 全节点逐条验证→</a:t>
            </a:r>
            <a:br/>
            <a:r>
              <a:t>⑪ 加入本地区块链→⑫ Bob看到1确认→⑬ 6确认「最终」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3 · 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BTC 技术原理总结：五层架构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27/62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920240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834640"/>
            <a:ext cx="17739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密码学层</a:t>
            </a:r>
            <a:br/>
            <a:r>
              <a:t>SHA-256</a:t>
            </a:r>
            <a:br/>
            <a:r>
              <a:t>ECDSA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3611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743200"/>
            <a:ext cx="1920240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2834640"/>
            <a:ext cx="17739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数据层</a:t>
            </a:r>
            <a:br/>
            <a:r>
              <a:t>UTXO</a:t>
            </a:r>
            <a:br/>
            <a:r>
              <a:t>区块/默克尔树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611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743200"/>
            <a:ext cx="1920240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2834640"/>
            <a:ext cx="17739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网络层</a:t>
            </a:r>
            <a:br/>
            <a:r>
              <a:t>P2P 广播</a:t>
            </a:r>
            <a:br/>
            <a:r>
              <a:t>全节点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611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2743200"/>
            <a:ext cx="1920240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2834640"/>
            <a:ext cx="17739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共识层</a:t>
            </a:r>
            <a:br/>
            <a:r>
              <a:t>PoW</a:t>
            </a:r>
            <a:br/>
            <a:r>
              <a:t>难度调整/最长链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6118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743200"/>
            <a:ext cx="1920240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2834640"/>
            <a:ext cx="17739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Microsoft YaHei"/>
              </a:defRPr>
            </a:pPr>
            <a:r>
              <a:t>经济层</a:t>
            </a:r>
            <a:br/>
            <a:r>
              <a:t>减半/2100万</a:t>
            </a:r>
            <a:br/>
            <a:r>
              <a:t>手续费市场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06577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常见误区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5029200"/>
            <a:ext cx="5486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08192" y="506577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正确理解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5486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538581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BTC是匿名的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349240"/>
            <a:ext cx="5486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538581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伪匿名——所有交易公开可查，可被链上分析追踪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69280"/>
            <a:ext cx="5486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70585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BTC账户有余额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5669280"/>
            <a:ext cx="5486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08192" y="570585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UTXO模型，没有账户概念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02589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矿工控制Bitcoin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5989320"/>
            <a:ext cx="5486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602589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全节点通过选择软件版本执行共识规则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634593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BTC交易完全不可逆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6309360"/>
            <a:ext cx="5486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08192" y="634593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概率最终性——0确认可被RBF替换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629400"/>
            <a:ext cx="5486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666597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BTC太慢了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6629400"/>
            <a:ext cx="5486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8192" y="666597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L1 ~7 TPS，但Lightning已支持秒级微支付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8B5CF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Microsoft YaHei"/>
              </a:defRPr>
            </a:pPr>
            <a:r>
              <a:t>区块链通用架构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六层架构 · 共识机制 · 智能合约 · L1/L2 · 预言机与桥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28/62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4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区块链是什么？六层通用架构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29/62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828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层级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011680"/>
            <a:ext cx="256032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204825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核心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2011680"/>
            <a:ext cx="65836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2048256"/>
            <a:ext cx="6437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功能与特性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36829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① 数据层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33172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236829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区块+链+默克尔树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331720"/>
            <a:ext cx="65836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2368296"/>
            <a:ext cx="6437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仅追加、不可删改的数据结构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5176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68833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② 网络层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65176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0592" y="268833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P2P组网+广播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2651760"/>
            <a:ext cx="65836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2688336"/>
            <a:ext cx="6437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交易和区块在全网节点间传播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7180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0837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③ 共识层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297180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50592" y="300837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PoW / PoS / BFT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2971800"/>
            <a:ext cx="65836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0912" y="3008376"/>
            <a:ext cx="6437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决定谁可以添加新区块——最核心的创新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9184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32841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④ 激励层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29184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332841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Token 经济模型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3291840"/>
            <a:ext cx="65836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3328416"/>
            <a:ext cx="6437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发行+手续费分配——驱动诚实参与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61188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6484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⑤ 合约层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361188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50592" y="364845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脚本 / EVM / WASM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3611880"/>
            <a:ext cx="65836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10912" y="3648456"/>
            <a:ext cx="6437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BTC(非图灵完备) vs ETH(图灵完备EVM)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93192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96849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⑥ 应用层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77440" y="393192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50592" y="396849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DApp/钱包/浏览器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37760" y="3931920"/>
            <a:ext cx="65836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10912" y="3968496"/>
            <a:ext cx="6437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用户交互界面和服务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846320"/>
            <a:ext cx="5364327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4846320"/>
            <a:ext cx="54864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95604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公链 (Public)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321808"/>
            <a:ext cx="50442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任何人可参与，无许可。Bitcoin / Ethereum / Solana。适合：DeFi、全球支付。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95847" y="4846320"/>
            <a:ext cx="5364327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95847" y="4846320"/>
            <a:ext cx="54864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8727" y="495604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联盟链 (Consortium)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78727" y="5321808"/>
            <a:ext cx="504428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授权组织参与，许可制。Hyperledger / R3 Corda。适合：供应链金融、银行间清算。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4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共识机制三大家族：PoW vs PoS vs BFT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30/62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828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95681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920240"/>
            <a:ext cx="310896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195681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PoW (工作量证明)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920240"/>
            <a:ext cx="310896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95681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PoS (权益证明)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920240"/>
            <a:ext cx="310896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195681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BFT (拜占庭容错)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4028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2768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安全根基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240280"/>
            <a:ext cx="31089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227685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物理能量（电力不可伪造）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240280"/>
            <a:ext cx="31089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9552" y="227685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经济资本（Token不可伪造）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2240280"/>
            <a:ext cx="31089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8512" y="227685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节点信誉+多轮投票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56032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59689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最终性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560320"/>
            <a:ext cx="31089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0592" y="259689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概率性（确认数越多越安全）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560320"/>
            <a:ext cx="31089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9552" y="259689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概率性→经济最终性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2560320"/>
            <a:ext cx="31089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259689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绝对最终性（一旦确认不可回滚）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88036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291693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TPS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2880360"/>
            <a:ext cx="31089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291693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低 (BTC ~7)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2880360"/>
            <a:ext cx="31089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9552" y="291693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中 (ETH ~30)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2880360"/>
            <a:ext cx="31089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291693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高 (Tendermint ~4,000)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0040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23697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能耗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200400"/>
            <a:ext cx="31089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50592" y="323697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极高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3200400"/>
            <a:ext cx="31089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59552" y="323697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极低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3200400"/>
            <a:ext cx="31089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8512" y="323697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52044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355701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去中心化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3520440"/>
            <a:ext cx="31089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50592" y="355701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高（任何人可挖）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3520440"/>
            <a:ext cx="31089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9552" y="355701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较高（有富者愈富趋势）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3520440"/>
            <a:ext cx="31089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68512" y="355701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低（节点数受限）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84048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38770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代表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7440" y="3840480"/>
            <a:ext cx="31089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50592" y="387705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BTC, LTC, DOGE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3840480"/>
            <a:ext cx="31089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59552" y="387705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ETH, ADA, SOL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3840480"/>
            <a:ext cx="31089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68512" y="3877056"/>
            <a:ext cx="29626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Cosmos, Near, Aptos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484632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1A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4937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🔑 关键洞察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212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没有完美的共识机制——每种都是权衡。PoW安全根植于物理世界（电力不可伪造），PoS安全根植于经济学（资本不可伪造）。</a:t>
            </a:r>
            <a:br/>
            <a:r>
              <a:t>从15年实战检验看，PoW是最经过考验的——BTC从未宕机。但PoS在节能和吞吐量上有明显优势。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4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智能合约、Token 标准与 EVM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31/62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0E1B2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💡 通俗类比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💡 智能合约 = 自动售货机</a:t>
            </a:r>
            <a:br/>
            <a:r>
              <a:t>投币（满足条件）→ 选择商品（执行逻辑）→ 自动出货（获得结果）</a:t>
            </a:r>
            <a:br/>
            <a:r>
              <a:t>不需要店员（中介），规则透明（代码公开），不可干预（一旦部署无法停止）。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2011680"/>
            <a:ext cx="54864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21408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⚙️ EVM (以太坊虚拟机)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87168"/>
            <a:ext cx="4983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Solidity → 编译为EVM字节码 → 在EVM上执行</a:t>
            </a:r>
            <a:br/>
            <a:r>
              <a:t>Gas：每步EVM操作消耗Gas，防无限循环（Gas耗尽自动停止）</a:t>
            </a:r>
            <a:br/>
            <a:r>
              <a:t>所有EVM兼容链（BSC/Polygon/Arbitrum/Optimism）共享同一套EVM。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1828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24281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Token 标准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420624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0592" y="42428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4206240"/>
            <a:ext cx="6858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4242816"/>
            <a:ext cx="6711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典型应用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5628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ERC-20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452628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50592" y="45628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同质化代币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526280"/>
            <a:ext cx="6858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4562856"/>
            <a:ext cx="6711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USDT, USDC, UNI, LINK——transfer/approve/transferFrom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88289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ERC-721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484632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48828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非同质化(NFT)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4846320"/>
            <a:ext cx="6858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4882896"/>
            <a:ext cx="6711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Bored Ape, CryptoPunks——每个Token ID唯一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6636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20293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ERC-1155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516636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50592" y="52029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多代币标准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5166360"/>
            <a:ext cx="6858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5202936"/>
            <a:ext cx="6711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游戏资产、门票——同一合约管理多种代币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4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L1/L2 扩容方案对比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32/62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0972800" cy="1097280"/>
          </a:xfrm>
          <a:prstGeom prst="roundRect">
            <a:avLst>
              <a:gd name="adj" fmla="val 4000"/>
            </a:avLst>
          </a:prstGeom>
          <a:solidFill>
            <a:srgbClr val="1A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🔑 关键洞察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区块链不可能三角：去中心化、安全、可扩展性——三者最多同时优化两个。</a:t>
            </a:r>
            <a:br/>
            <a:r>
              <a:t>BTC和ETH L1选择去中心化+安全，牺牲可扩展性。L2将大量交易放在链下，L1只做最终结算。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184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3284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3291840"/>
            <a:ext cx="2743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332841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3291840"/>
            <a:ext cx="29260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3328416"/>
            <a:ext cx="27797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核心机制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3291840"/>
            <a:ext cx="29260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3328416"/>
            <a:ext cx="27797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性能特点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6484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Lightning Network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361188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7792" y="36484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状态通道(BTC L2)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3611880"/>
            <a:ext cx="29260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3648456"/>
            <a:ext cx="27797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2-of-2多签通道，链下更新，HTLC路由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3611880"/>
            <a:ext cx="29260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3648456"/>
            <a:ext cx="27797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秒级、&lt;$0.01、百万+ TPS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9684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Optimism/Arbitrum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93192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7792" y="396849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Optimistic Rollup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3931920"/>
            <a:ext cx="29260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3968496"/>
            <a:ext cx="27797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乐观假设有效，7天挑战期（欺诈证明）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3931920"/>
            <a:ext cx="29260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77072" y="3968496"/>
            <a:ext cx="27797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~4,000 TPS，提款需7天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5196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42885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zkSync/StarkNet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425196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07792" y="428853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ZK Rollup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4251960"/>
            <a:ext cx="29260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50992" y="4288536"/>
            <a:ext cx="27797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每批交易附带ZK有效性证明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4251960"/>
            <a:ext cx="29260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7072" y="4288536"/>
            <a:ext cx="27797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~10,000 TPS，分钟级提款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57200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46085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Polygon PoS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457200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07792" y="460857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侧链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4572000"/>
            <a:ext cx="29260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4608576"/>
            <a:ext cx="27797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独立PoS共识+检查点提交ETH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4572000"/>
            <a:ext cx="29260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7072" y="4608576"/>
            <a:ext cx="27797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~7,000 TPS，安全性低于Rollup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4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跨链桥与预言机：区块链最脆弱的环节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33/62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64327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" cy="3200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🔗 跨链桥 (Bridge)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5044287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资产跨链 = 源链锁定资产 + 目标链铸造映射代币。</a:t>
            </a:r>
            <a:br/>
            <a:br/>
            <a:r>
              <a:t>⚠️ 加密史上被攻击最频繁的环节：</a:t>
            </a:r>
            <a:br/>
            <a:r>
              <a:t>  Ronin Bridge ($620M, 2022)</a:t>
            </a:r>
            <a:br/>
            <a:r>
              <a:t>  Wormhole ($325M, 2022)</a:t>
            </a:r>
            <a:br/>
            <a:r>
              <a:t>  Nomad ($190M, 2022)</a:t>
            </a:r>
            <a:br/>
            <a:br/>
            <a:r>
              <a:t>Vitalik本人对跨链桥安全性持保留态度。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2011680"/>
            <a:ext cx="5364327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2011680"/>
            <a:ext cx="54864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12140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🔮 预言机 (Oracle)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487168"/>
            <a:ext cx="5044287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将链下数据（价格/天气/比分）送入链上合约。</a:t>
            </a:r>
            <a:br/>
            <a:r>
              <a:t>Chainlink是最大的预言机网络。</a:t>
            </a:r>
            <a:br/>
            <a:br/>
            <a:r>
              <a:t>💡 = 把链下真实世界数据送进链上合约的信使。</a:t>
            </a:r>
            <a:br/>
            <a:br/>
            <a:r>
              <a:t>风险：输入数据被操纵→合约执行错误逻辑→资金损失。</a:t>
            </a:r>
            <a:br/>
            <a:r>
              <a:t>预言机操纵是DeFi被攻击的主要原因之一。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7931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Microsoft YaHei"/>
              </a:defRPr>
            </a:pPr>
            <a:r>
              <a:t>行业版图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六层产业结构 · BTC/Ethereum/Alt L1 · DeFi/NFT/RWA · 基础设施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34/62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5 ·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行业全景：六层产业结构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35/62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0116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1865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层级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2011680"/>
            <a:ext cx="256032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204825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功能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011680"/>
            <a:ext cx="6400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93792" y="2048256"/>
            <a:ext cx="6254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代表项目/公司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20116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368296"/>
            <a:ext cx="1865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① 结算层 / L1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33172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236829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最终结算、安全、价值存储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331720"/>
            <a:ext cx="6400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2368296"/>
            <a:ext cx="6254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Bitcoin, Ethereum, Solana, BSC, Avalanche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51760"/>
            <a:ext cx="20116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688336"/>
            <a:ext cx="1865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② L2 / 扩容层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65176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33472" y="268833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提升吞吐量、降低费用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651760"/>
            <a:ext cx="6400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2688336"/>
            <a:ext cx="6254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Lightning, Arbitrum, Optimism, Base, zkSync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71800"/>
            <a:ext cx="20116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08376"/>
            <a:ext cx="1865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③ 中间件 / 基础设施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97180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3472" y="300837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数据服务、互操作、存储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2971800"/>
            <a:ext cx="6400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3792" y="3008376"/>
            <a:ext cx="6254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Chainlink, The Graph, IPFS/Filecoin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91840"/>
            <a:ext cx="20116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328416"/>
            <a:ext cx="1865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④ 金融层 / DeFi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329184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33472" y="332841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去中心化金融服务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3291840"/>
            <a:ext cx="6400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3328416"/>
            <a:ext cx="6254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Uniswap, Aave, Lido, EigenLayer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611880"/>
            <a:ext cx="20116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648456"/>
            <a:ext cx="1865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⑤ 资产层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361188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33472" y="364845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价值载体和交换媒介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3611880"/>
            <a:ext cx="6400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93792" y="3648456"/>
            <a:ext cx="6254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USDT, USDC, DAI, RWA代币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931920"/>
            <a:ext cx="20116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968496"/>
            <a:ext cx="1865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⑥ 应用层 / 用户入口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393192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33472" y="396849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用户界面和服务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0" y="3931920"/>
            <a:ext cx="6400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93792" y="3968496"/>
            <a:ext cx="6254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Binance, Coinbase, MetaMask, OpenSea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5 ·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BTC：数字黄金 · Ethereum：世界计算机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36/62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64327" cy="2560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256032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₿ BTC = 数字黄金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5044287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定位：从「电子现金」→「数字黄金」和全球结算层</a:t>
            </a:r>
            <a:br/>
            <a:r>
              <a:t>市值占比：~50% (BTC Dominance)</a:t>
            </a:r>
            <a:br/>
            <a:r>
              <a:t>核心叙事：非主权、绝对稀缺(2100万)、最去中心化、最安全</a:t>
            </a:r>
            <a:br/>
            <a:r>
              <a:t>局限：L1 ~7 TPS，不适合高频日常支付</a:t>
            </a:r>
            <a:br/>
            <a:r>
              <a:t>日常支付→Lightning；复杂应用→Ethereum/L2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1920240"/>
            <a:ext cx="5364327" cy="25603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920240"/>
            <a:ext cx="54864" cy="2560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💎 Ethereum = 世界计算机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395728"/>
            <a:ext cx="5044287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定位：可编程的金融计算平台</a:t>
            </a:r>
            <a:br/>
            <a:r>
              <a:t>最大DeFi生态TVL</a:t>
            </a:r>
            <a:br/>
            <a:r>
              <a:t>2022合并(PoS)；2024 Dencun(EIP-4844 Blob降低L2费用)</a:t>
            </a:r>
            <a:br/>
            <a:r>
              <a:t>路线图：以Rollup为中心，L1定位结算层&amp;DA层</a:t>
            </a:r>
            <a:br/>
            <a:r>
              <a:t>ETH = 「数字石油」——每笔交易/合约调用都需ETH付Gas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54880"/>
            <a:ext cx="1828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7914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Alt L1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4754880"/>
            <a:ext cx="256032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479145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定位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4754880"/>
            <a:ext cx="3200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479145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技术特点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4754880"/>
            <a:ext cx="3200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479145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权衡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7492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11149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Solana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507492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0592" y="511149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高性能L1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507492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511149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PoH+PoS, ~3,000 TPS, 低费率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507492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511149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用去中心化换性能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9496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43153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BSC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539496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543153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EVM低成本链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539496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543153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21验证者, EVM兼容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539496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543153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中心化程度较高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71500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575157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Avalanche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571500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50592" y="575157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子网定制化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571500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0912" y="57515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多链架构，子网独立共识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571500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57515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复杂度较高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5 ·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稳定币：比特币之后最重要的加密创新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37/62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828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95681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920240"/>
            <a:ext cx="256032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195681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920240"/>
            <a:ext cx="3200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95681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代表（市值）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920240"/>
            <a:ext cx="33832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95681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核心风险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4028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2768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法币抵押型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24028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227685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1:1持有美元/美债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24028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227685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USDT, USDC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240280"/>
            <a:ext cx="3383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27685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储备是否真实？可被冻结；银行风险(SVB)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56032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59689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加密超额抵押型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256032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50592" y="259689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存$150 ETH→生成$100 DAI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56032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259689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DAI (MakerDAO/Sky)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560320"/>
            <a:ext cx="3383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259689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抵押品暴跌+清算踩踏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88036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291693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算法型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2880360"/>
            <a:ext cx="25603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291693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燃烧/铸造姐妹Token维持锚定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288036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291693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Terra/UST (已崩盘)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2880360"/>
            <a:ext cx="3383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291693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死亡螺旋归零($40B) 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0040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23697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收益型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200400"/>
            <a:ext cx="25603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50592" y="3236976"/>
            <a:ext cx="2414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stETH质押+ETH空单Delta中性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20040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0912" y="32369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USDe (Ethena)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200400"/>
            <a:ext cx="3383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323697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负资金费率；对手方风险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20624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2D1B0E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2976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931A"/>
                </a:solidFill>
                <a:latin typeface="Microsoft YaHei"/>
              </a:defRPr>
            </a:pPr>
            <a:r>
              <a:t>⚠️ 注意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稳定币 ≠ 安全。不同类型风险完全不同。USDT的问题是「对方有没有骗你」，算法稳定币的问题是「数学设计有没有缺陷」——本质不同。</a:t>
            </a:r>
            <a:br/>
            <a:r>
              <a:t>稳定币已成为全球最重要的链上美元基础设施之一，在跨境支付、抗通胀、DeFi、AI Agent支付中发挥关键作用。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5 ·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DeFi、NFT 与 RWA 版图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38/62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15258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🏦 DeFi 核心赛道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319521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• AMM DEX: Uniswap (x*y=k)</a:t>
            </a:r>
            <a:br/>
            <a:r>
              <a:t>• 借贷: Aave/Compound</a:t>
            </a:r>
            <a:br/>
            <a:r>
              <a:t>• 流动性质押: Lido</a:t>
            </a:r>
            <a:br/>
            <a:r>
              <a:t>• CDP稳定币: MakerDAO/Sky</a:t>
            </a:r>
            <a:br/>
            <a:r>
              <a:t>• 衍生品: dYdX/GMX</a:t>
            </a:r>
            <a:br/>
            <a:r>
              <a:t>• 再质押: EigenLayer</a:t>
            </a:r>
            <a:br/>
            <a:br/>
            <a:r>
              <a:t>核心创新 = 可组合性：像「金融乐高」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6778" y="1920240"/>
            <a:ext cx="3515258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46778" y="1920240"/>
            <a:ext cx="54864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9658" y="202996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🎨 NFT 演进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395728"/>
            <a:ext cx="319521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PFP头像 → 链上艺术 → 游戏资产 → 域名(ENS) → 链上身份证明 → 链上声誉</a:t>
            </a:r>
            <a:br/>
            <a:br/>
            <a:r>
              <a:t>从「小图片炒作」到可验证的数字所有权基础设施。</a:t>
            </a:r>
            <a:br/>
            <a:r>
              <a:t>Beeple $69M (2021) 标志数字艺术正式进入主流。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4916" y="1920240"/>
            <a:ext cx="3515258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44916" y="1920240"/>
            <a:ext cx="54864" cy="3474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🏠 RWA 现实资产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2395728"/>
            <a:ext cx="319521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国债代币化（当前最有PMF）→ 私募信贷 → 大宗商品 → 房地产 → 证券代币化</a:t>
            </a:r>
            <a:br/>
            <a:br/>
            <a:r>
              <a:t>BlackRock BUIDL基金——传统金融巨头进入RWA的标志。</a:t>
            </a:r>
            <a:br/>
            <a:r>
              <a:t>把万亿真实资产的收益带到链上——但也引入中心化托管风险。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5 ·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交易所、钱包、托管：加密入口三层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39/62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15258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347472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🏛️ CEX vs 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319521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CEX: Binance/Coinbase——高频交易、法币出入金、但托管风险(FTX)</a:t>
            </a:r>
            <a:br/>
            <a:br/>
            <a:r>
              <a:t>DEX: Uniswap/dYdX——自托管、无许可、但费用较高</a:t>
            </a:r>
            <a:br/>
            <a:br/>
            <a:r>
              <a:t>FTX是最好的「为什么自托管重要」教育案例。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6778" y="1920240"/>
            <a:ext cx="3515258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46778" y="1920240"/>
            <a:ext cx="54864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9658" y="202996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🔐 钱包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395728"/>
            <a:ext cx="319521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MetaMask(EVM)、Phantom(Solana)、OKX Wallet——管理密钥+连接DApp</a:t>
            </a:r>
            <a:br/>
            <a:br/>
            <a:r>
              <a:t>硬件钱包: Ledger/Trezor——冷存储</a:t>
            </a:r>
            <a:br/>
            <a:br/>
            <a:r>
              <a:t>钱包 = Key Manager，钱永远在区块链上。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4916" y="1920240"/>
            <a:ext cx="3515258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44916" y="1920240"/>
            <a:ext cx="54864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🤝 托管方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2395728"/>
            <a:ext cx="319521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Coinbase Custody、BitGo、Fireblocks——机构级合规资产保管。</a:t>
            </a:r>
            <a:br/>
            <a:br/>
            <a:r>
              <a:t>ETF托管方也是关键角色（BlackRock ETF由Coinbase Custody托管）。</a:t>
            </a:r>
            <a:br/>
            <a:br/>
            <a:r>
              <a:t>核心原则: Not your keys, not your coins.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PART 5 · INDUSTRY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数据服务、节点服务与安全公司（「卖铲子」的生意）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40/62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Microsoft YaHei"/>
              </a:defRPr>
            </a:pPr>
            <a:r>
              <a:t>类别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2011680"/>
            <a:ext cx="36576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792" y="204825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Microsoft YaHei"/>
              </a:defRPr>
            </a:pPr>
            <a:r>
              <a:t>代表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011680"/>
            <a:ext cx="5029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04825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Microsoft YaHei"/>
              </a:defRPr>
            </a:pPr>
            <a:r>
              <a:t>做什么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3682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RPC节点服务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331720"/>
            <a:ext cx="3657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236829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Infura, Alchemy, QuickNode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331720"/>
            <a:ext cx="5029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36829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提供区块链数据接口，大多数DApp依赖它们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5176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6883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数据与分析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651760"/>
            <a:ext cx="3657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2" y="268833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The Graph, Dune, Nansen, Chainalysis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651760"/>
            <a:ext cx="5029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268833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链上数据索引、SQL分析、合规分析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7180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083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安全审计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2971800"/>
            <a:ext cx="3657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7792" y="300837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Trail of Bits, OpenZeppelin, Certik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971800"/>
            <a:ext cx="5029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300837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智能合约审计——DeFi上线前的标配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9184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3284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MEV缓解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291840"/>
            <a:ext cx="3657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07792" y="332841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Flashbots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291840"/>
            <a:ext cx="5029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332841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研究并缓解MEV（矿工/验证者可提取价值）问题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11480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1A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206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🔑 关键洞察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4805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基础设施层是加密行业盈利模式最清晰的——无论牛熊，DApp都需要节点服务和数据分析。</a:t>
            </a:r>
            <a:br/>
            <a:r>
              <a:t>MEV是以太坊特有的问题：矿工/验证者可以通过排列、插入或审查交易来获得额外利润。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3B82F6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Microsoft YaHei"/>
              </a:defRPr>
            </a:pPr>
            <a:r>
              <a:t>专题深入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稳定币机制 · DeFi风险 · ETF与机构化 · AI对矿业和区块链的影响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41/62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6 ·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稳定币专题 (1/3)：四种类型的完整机制对比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42/62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64592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956816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920240"/>
            <a:ext cx="2743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67712" y="195681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铸币机制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920240"/>
            <a:ext cx="3200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95681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稳定性保障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920240"/>
            <a:ext cx="33832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95681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风险点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40280"/>
            <a:ext cx="16459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276856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法币抵押型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224028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67712" y="22768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存入$1→发行1 USDT/USDC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24028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227685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发行方承诺1:1赎回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240280"/>
            <a:ext cx="3383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27685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储备是否真实？可被冻结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560320"/>
            <a:ext cx="16459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596896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超额抵押型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256032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67712" y="259689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存入$150 ETH→生成$100 DAI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56032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259689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清算线~$120，跌破即清算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560320"/>
            <a:ext cx="3383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259689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抵押品暴跌+清算踩踏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880360"/>
            <a:ext cx="164592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2916936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算法型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88036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67712" y="291693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燃烧LUNA铸造UST，套利维持$1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2880360"/>
            <a:ext cx="3200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291693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套利者恢复锚定（理论）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2880360"/>
            <a:ext cx="3383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291693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死亡螺旋——信任崩溃无法恢复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00400"/>
            <a:ext cx="164592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236976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收益型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94560" y="320040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67712" y="323697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stETH收益+ETH空单=Delta中性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20040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0912" y="3236976"/>
            <a:ext cx="3054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市场中性策略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3200400"/>
            <a:ext cx="3383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3236976"/>
            <a:ext cx="3236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负资金费率；对手方风险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6 ·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稳定币专题 (2/3)：储备、审计与冻结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43/62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64327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347472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🔍 USDT 储备构成（截至最新报告）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5044287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大部分为美国国债和现金等价物。</a:t>
            </a:r>
            <a:br/>
            <a:r>
              <a:t>争议：历史上一度没有完整审计，透明度存疑。</a:t>
            </a:r>
            <a:br/>
            <a:br/>
            <a:r>
              <a:t>USDC 储备：BlackRock管理的美国国债+现金，月度审计。</a:t>
            </a:r>
            <a:br/>
            <a:br/>
            <a:r>
              <a:t>（市值需联网核对最新数据）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1920240"/>
            <a:ext cx="5364327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920240"/>
            <a:ext cx="54864" cy="3474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⚠️ 三个核心风险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395728"/>
            <a:ext cx="5044287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① 储备风险：法币抵押型——储备是否真的存在？</a:t>
            </a:r>
            <a:br/>
            <a:r>
              <a:t>② 冻结风险：USDT/USDC发行方可冻结特定地址</a:t>
            </a:r>
            <a:br/>
            <a:r>
              <a:t>③ 银行风险：2023 SVB倒闭时USDC脱锚至$0.87</a:t>
            </a:r>
            <a:br/>
            <a:r>
              <a:t>   （Circle有$33亿存款卡在SVB）</a:t>
            </a:r>
            <a:br/>
            <a:br/>
            <a:r>
              <a:t>中心化 vs 去中心化：DAI不可冻结但需超额抵押；</a:t>
            </a:r>
            <a:br/>
            <a:r>
              <a:t>USDC资本效率高但可被冻结。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6 ·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稳定币专题 (3/3)：作用与风险矩阵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44/62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15258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六大作用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319521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① 法币入金/出金中间层</a:t>
            </a:r>
            <a:br/>
            <a:r>
              <a:t>② 交易计价单位</a:t>
            </a:r>
            <a:br/>
            <a:r>
              <a:t>③ DeFi基础资产</a:t>
            </a:r>
            <a:br/>
            <a:r>
              <a:t>④ 跨境支付/汇款</a:t>
            </a:r>
            <a:br/>
            <a:r>
              <a:t>⑤ 抗通胀/保值</a:t>
            </a:r>
            <a:br/>
            <a:r>
              <a:t>⑥ AI Agent支付基础货币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6778" y="1920240"/>
            <a:ext cx="3515258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46778" y="1920240"/>
            <a:ext cx="54864" cy="3474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9658" y="202996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五类风险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395728"/>
            <a:ext cx="319521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🔴 储备风险（中心化）</a:t>
            </a:r>
            <a:br/>
            <a:r>
              <a:t>🟠 清算风险（超额抵押型）</a:t>
            </a:r>
            <a:br/>
            <a:r>
              <a:t>🟡 脱锚风险（全部类型）</a:t>
            </a:r>
            <a:br/>
            <a:r>
              <a:t>🟢 合约风险（技术漏洞）</a:t>
            </a:r>
            <a:br/>
            <a:r>
              <a:t>🔵 监管风险（合规/Rug Pull）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4916" y="1920240"/>
            <a:ext cx="3515258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44916" y="1920240"/>
            <a:ext cx="54864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关键认知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2395728"/>
            <a:ext cx="3195218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稳定币的PMF远超普通加密资产。</a:t>
            </a:r>
            <a:br/>
            <a:br/>
            <a:r>
              <a:t>USDT是加密世界最大的「系统性重要机构」之一。</a:t>
            </a:r>
            <a:br/>
            <a:br/>
            <a:r>
              <a:t>稳定币交易量已超过Visa和Mastercard的部分市场。</a:t>
            </a:r>
            <a:br/>
            <a:br/>
            <a:r>
              <a:t>（需联网核对最新数据）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6 ·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DeFi 专题 (1/3)：核心金融逻辑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45/62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64327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🔄 AMM DEX (Uniswap)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5044287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传统做市需要做市商→Uniswap用恒定乘积（x*y=k）让任何人提供流动性赚手续费。</a:t>
            </a:r>
            <a:br/>
            <a:br/>
            <a:r>
              <a:t>交易量越大→池越大→价格越稳定→手续费收入越多。</a:t>
            </a:r>
            <a:br/>
            <a:br/>
            <a:r>
              <a:t>核心创新：任何人都可以成为做市商，不再需要中心化交易所的订单簿。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1920240"/>
            <a:ext cx="5364327" cy="34747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920240"/>
            <a:ext cx="54864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🏦 借贷协议 (Aave)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395728"/>
            <a:ext cx="5044287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存款人存入资产获利息；借款人提供超额抵押品借出资产。</a:t>
            </a:r>
            <a:br/>
            <a:br/>
            <a:r>
              <a:t>清算机制：抵押品/借款 &lt; 清算阈值→清算人以折扣价购买抵押品偿还债务。</a:t>
            </a:r>
            <a:br/>
            <a:br/>
            <a:r>
              <a:t>依赖预言机实时价格——预言机操纵 = 错误清算。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6 ·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DeFi 专题 (2/3)：收益从哪来？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46/62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收益来源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2011680"/>
            <a:ext cx="2743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792" y="20482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谁支付？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2011680"/>
            <a:ext cx="59436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50992" y="2048256"/>
            <a:ext cx="5797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可持续性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3682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① 交易手续费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33172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236829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用户真实支付的兑换费用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331720"/>
            <a:ext cx="5943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50992" y="2368296"/>
            <a:ext cx="5797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✅ 真实收益，可持续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5176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6883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② 借贷利息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65176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2" y="268833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借款人支付的利息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651760"/>
            <a:ext cx="5943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50992" y="2688336"/>
            <a:ext cx="5797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✅ 真实收益，可持续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7180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083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③ Token补贴/激励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297180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7792" y="300837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项目方印Token吸引流动性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971800"/>
            <a:ext cx="5943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50992" y="3008376"/>
            <a:ext cx="5797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❌ 不可持续——补贴停=TVL崩塌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9184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3284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④ MEV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29184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07792" y="332841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交易排序的利润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291840"/>
            <a:ext cx="5943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0992" y="3328416"/>
            <a:ext cx="5797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⚡ 真实但集中在验证者/搜索者手中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61188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6484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⑤ 质押/再质押奖励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361188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07792" y="36484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网络发行的新Token（通胀）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3611880"/>
            <a:ext cx="5943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50992" y="3648456"/>
            <a:ext cx="5797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⚠️ 取决于网络长期价值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29768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1A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3891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🔑 关键洞察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4663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判别标准：问自己——「这个协议的收益最终是谁支付的？」</a:t>
            </a:r>
            <a:br/>
            <a:r>
              <a:t>如果来自①② = 相对真实可持续。如果主要靠③ = 当补贴停止时TVL和APY将崩溃。</a:t>
            </a:r>
            <a:br/>
            <a:r>
              <a:t>2020 DeFi Summer很多天价APY其实是Token补贴制造的幻觉——新用户的钱付给老用户的Ponzi结构。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6 ·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DeFi 专题 (3/3)：七层风险全景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47/62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DeFi 风险通常不是孤立发生——往往同时触发或互为因果：</a:t>
            </a:r>
            <a:br/>
            <a:br/>
            <a:r>
              <a:t>① 🔴 智能合约漏洞——代码Bug→资金被盗（最直接）</a:t>
            </a:r>
            <a:br/>
            <a:r>
              <a:t>   案例：The DAO (2016, 360万ETH), Poly Network ($610M, 2021)</a:t>
            </a:r>
            <a:br/>
            <a:br/>
            <a:r>
              <a:t>② 🟠 预言机操纵——喂价被操纵→清算机制被触发错误</a:t>
            </a:r>
            <a:br/>
            <a:r>
              <a:t>   案例：Mango Markets ($116M, 2022)</a:t>
            </a:r>
            <a:br/>
            <a:br/>
            <a:r>
              <a:t>③ 🟡 闪电贷攻击——无抵押大额贷款执行清算/操纵（DeFi特有攻击向量）</a:t>
            </a:r>
            <a:br/>
            <a:br/>
            <a:r>
              <a:t>④ 🟢 治理攻击——购买治理Token劫持协议 | 案例：Beanstalk ($182M, 2022)</a:t>
            </a:r>
            <a:br/>
            <a:br/>
            <a:r>
              <a:t>⑤ 🔵 流动性风险——大户撤出→滑点飙升或银行挤兑式清算</a:t>
            </a:r>
            <a:br/>
            <a:br/>
            <a:r>
              <a:t>⑥ 🟣 跨链桥风险——跨链资产的技术/信任成本（桥是重灾区）</a:t>
            </a:r>
            <a:br/>
            <a:br/>
            <a:r>
              <a:t>⑦ ⚫ 系统性传染——一个协议出问题→通过可组合性传染全生态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6 ·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ETF 与机构化：改变的是资金入口，不是协议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48/62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64327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32004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✅ ETF 带来了什么？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5044287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• 合规渠道——受SEC/CFTC监管的BTC敞口</a:t>
            </a:r>
            <a:br/>
            <a:r>
              <a:t>• 税收优势——401k/IRA等免税账户可持有</a:t>
            </a:r>
            <a:br/>
            <a:r>
              <a:t>• 降低门槛——不需要管理私钥/助记词</a:t>
            </a:r>
            <a:br/>
            <a:r>
              <a:t>• 流动性集中——做市商/授权参与者</a:t>
            </a:r>
            <a:br/>
            <a:r>
              <a:t>• 百亿美元级净流入——传统金融终于能买BTC了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1920240"/>
            <a:ext cx="5364327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920240"/>
            <a:ext cx="54864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⚠️ ETF 不改变什么？&amp; 双面性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395728"/>
            <a:ext cx="5044287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BTC协议无变动 | 2100万上限不变 | 出块时间不变</a:t>
            </a:r>
            <a:br/>
            <a:br/>
            <a:r>
              <a:t>⚠️ ETF持有者不持有私钥（托管方代为持有）</a:t>
            </a:r>
            <a:br/>
            <a:r>
              <a:t>⚠️ 交易时间限制（美股时间，BTC现货24/7）</a:t>
            </a:r>
            <a:br/>
            <a:r>
              <a:t>⚠️ 管理费（通常0.2-1.5%/年）</a:t>
            </a:r>
            <a:br/>
            <a:r>
              <a:t>⚠️ 双向性：价格下跌时也是卖出通道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0352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A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394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🔑 关键洞察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ETF = 资金入口的包装层。就像与世隔绝的村子修了高速公路——村子没变，进来的人多了。</a:t>
            </a:r>
            <a:br/>
            <a:r>
              <a:t>ETF投资者不是「持有BTC的人」——托管人替他们持有。大部分人不想要私钥，他们只想要美元回报。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6 ·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AI 对 BTC 的影响（上）：电力与矿业的争夺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49/62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0972800" cy="20116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" cy="201168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🔌 核心逻辑链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10652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AI训练和推理 → 对数据中心/GPU集群/低价电力需求暴增 → BTC矿企恰好拥有：</a:t>
            </a:r>
            <a:br/>
            <a:r>
              <a:t>① 已接入电网的大容量电力合同 ② 矿场基础设施（散热/变压器）③ 与电力公司的调度合作经验</a:t>
            </a:r>
            <a:br/>
            <a:r>
              <a:t>→ 矿企转型：挖矿 + AI/HPC托管双业务（Core Scientific x CoreWeave $3.5B 合同）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433425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对BTC网络的短期影响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297680"/>
            <a:ext cx="5486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8192" y="433425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对矿企的长期影响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65429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算力部分转向AI → BTC算力可能下降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617720"/>
            <a:ext cx="5486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465429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收入多元化：挖矿 + AI托管双收入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5486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97433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难度相应下调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937760"/>
            <a:ext cx="5486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497433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抗周期能力增强（熊市时AI收入补血）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5486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29437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短期安全预算可能减少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5257800"/>
            <a:ext cx="5486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8192" y="529437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长期更健康：不纯粹依赖BTC价格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77840"/>
            <a:ext cx="5486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61441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AI对BTC价格的直接影响有限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5577840"/>
            <a:ext cx="5486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8192" y="561441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低电价仍是矿企核心竞争力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6 ·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AI 对 BTC 的影响（下）：支付 &amp; 真实机会 vs 伪需求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50/62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828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95681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支付方式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92024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19568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速度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92024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9568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92024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19568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可编程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92024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19568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适合AI Agent?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4028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2768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BTC L1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24028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0592" y="22768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~10分钟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24028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22768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$1-5+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24028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22768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24028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22768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❌ 不适合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56032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59689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Lightning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256032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50592" y="25968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秒级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56032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25968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&lt;$0.01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256032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25968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部分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256032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08592" y="25968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✅ 微支付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288036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291693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稳定币(L2)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288036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50592" y="29169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秒级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288036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36592" y="29169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&lt;$0.01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288036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22592" y="29169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✅ EVM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288036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8592" y="29169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✅ 最佳方案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20040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323697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ETH L2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320040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50592" y="32369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秒-分钟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320040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36592" y="32369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&lt;$0.01-0.10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320040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22592" y="32369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✅ EVM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5440" y="320040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08592" y="32369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✅ 适合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365760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2D1B0E"/>
          </a:solidFill>
          <a:ln w="12700">
            <a:solidFill>
              <a:srgbClr val="F79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" y="3749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931A"/>
                </a:solidFill>
                <a:latin typeface="Microsoft YaHei"/>
              </a:defRPr>
            </a:pPr>
            <a:r>
              <a:t>⚠️ 注意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40233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AI支付需求特征：高频、小额、即时、可编程、低成本。BTC主链完全不适合。</a:t>
            </a:r>
            <a:br/>
            <a:r>
              <a:t>市场上的「AI利好BTC」叙事需区分：① AI→GDP→资金配置BTC（间接宏观传导 ✅）</a:t>
            </a:r>
            <a:br/>
            <a:r>
              <a:t>② AI Agent→微支付（利好稳定币+Lightning ✅）③ AI→矿业电力争夺（双向影响 ✅）④ 纯粹叙事炒作（❌）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303520"/>
            <a:ext cx="5486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" y="534009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🟢 真实机会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5303520"/>
            <a:ext cx="54864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08192" y="534009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🔴 伪需求/过度炒作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623560"/>
            <a:ext cx="5486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" y="566013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链上AI推理可验证性(ZKML) | 去中心化算力市场(Render)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0" y="5623560"/>
            <a:ext cx="54864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08192" y="566013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「AI链」——AI不需要在区块链上运行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" y="598017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AI Agent链上自动支付(Lightning/稳定币) | 对抗AI虚假内容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35040" y="5943600"/>
            <a:ext cx="5486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08192" y="5980176"/>
            <a:ext cx="53400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「AI Token因为有AI功能而升值」——大多无实际效用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EF4444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Microsoft YaHei"/>
              </a:defRPr>
            </a:pPr>
            <a:r>
              <a:t>风险与监管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五层风险框架 · 安全事件回顾 · 全球监管对比 · 独立研究检查清单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51/62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7 ·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五层系统性风险框架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52/62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🔴 技术层风险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10652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合约漏洞、私钥丢失、51%攻击、桥攻击、预言机操纵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54864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90088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🟠 经济层风险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55848"/>
            <a:ext cx="10652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Token模型崩盘、流动性危机、清算踩踏、稳定币脱锚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4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49040"/>
            <a:ext cx="54864" cy="731520"/>
          </a:xfrm>
          <a:prstGeom prst="rect">
            <a:avLst/>
          </a:prstGeom>
          <a:solidFill>
            <a:srgbClr val="E2B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58768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🟡 治理层风险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24528"/>
            <a:ext cx="10652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治理攻击、中心化掌控、分叉争议、社区分裂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1772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54864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27448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🟢 监管层风险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93208"/>
            <a:ext cx="10652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合规不确定性、禁令、稳定币储备审查、税务变化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8640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54864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596128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Microsoft YaHei"/>
              </a:defRPr>
            </a:pPr>
            <a:r>
              <a:t>🔵 应用层风险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61888"/>
            <a:ext cx="10652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钓鱼攻击、Rug Pull、使用繁难、托管方跑路(FTX)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400800"/>
            <a:ext cx="10972800" cy="365760"/>
          </a:xfrm>
          <a:prstGeom prst="roundRect">
            <a:avLst>
              <a:gd name="adj" fmla="val 4000"/>
            </a:avLst>
          </a:prstGeom>
          <a:solidFill>
            <a:srgbClr val="1A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4922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🔑 关键洞察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766560"/>
            <a:ext cx="1069848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FTX ≠ Bitcoin 不安全。FTX是应用层风险，Bitcoin协议在FTX事件期间正常运行。不要把不同层的风险混为一谈。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7 ·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重大安全事件回顾：历史是最好的老师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53/62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事件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2011680"/>
            <a:ext cx="10972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792" y="2048256"/>
            <a:ext cx="950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年份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01168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20482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损失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2743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20482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根因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2011680"/>
            <a:ext cx="2743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34272" y="20482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经验教训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3682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Mt.Gox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331720"/>
            <a:ext cx="1097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792" y="2368296"/>
            <a:ext cx="950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233172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5072" y="23682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~850K BTC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3172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36829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中心化交易所安全漏洞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33172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236829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Not your keys, not your coins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65176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26883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The DAO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2651760"/>
            <a:ext cx="1097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7792" y="2688336"/>
            <a:ext cx="950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265176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5072" y="26883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360万ETH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65176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268833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智能合约重入攻击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265176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34272" y="268833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代码即法律 vs 代码为人服务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297180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0083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Parity多签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2971800"/>
            <a:ext cx="1097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07792" y="3008376"/>
            <a:ext cx="950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297180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05072" y="30083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150K ETH永久冻结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97180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300837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代码Bug触发自毁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297180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34272" y="300837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复杂合约需严格审计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29184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33284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Ronin Bridge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40" y="3291840"/>
            <a:ext cx="1097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07792" y="3328416"/>
            <a:ext cx="950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2022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0" y="329184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05072" y="33284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$620M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29184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1072" y="332841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5/9多签密钥被盗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329184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34272" y="332841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桥的安全模型严重薄弱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361188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36484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Wormhole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40" y="3611880"/>
            <a:ext cx="10972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07792" y="3648456"/>
            <a:ext cx="950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2022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361188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05072" y="36484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$325M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361188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91072" y="36484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合约漏洞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61120" y="361188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34272" y="36484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桥是最频繁被攻击的环节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393192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1792" y="39684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FTX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34640" y="3931920"/>
            <a:ext cx="10972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07792" y="3968496"/>
            <a:ext cx="9509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2022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31920" y="393192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05072" y="39684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$8B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393192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91072" y="396849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托管方欺诈/挪用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61120" y="393192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34272" y="396849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Microsoft YaHei"/>
              </a:defRPr>
            </a:pPr>
            <a:r>
              <a:t>自托管的根本重要性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" y="530352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A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" y="5394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🔑 关键洞察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共性：没有一个是「区块链协议本身」被攻破。BTC和ETH协议在这些极端压力事件中保持正常运行——这正是去中心化系统的韧性。</a:t>
            </a:r>
            <a:br/>
            <a:r>
              <a:t>最脆弱的环节：桥、合约、交易所——这些连接层和应用层，而不是协议层本身。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7 ·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托管风险与安全最佳实践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54/62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2011680"/>
            <a:ext cx="42976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7792" y="2048256"/>
            <a:ext cx="4151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自托管 (Self-Custody)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011680"/>
            <a:ext cx="429768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5472" y="2048256"/>
            <a:ext cx="4151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第三方托管 (Custodian)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3682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风险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331720"/>
            <a:ext cx="42976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2368296"/>
            <a:ext cx="4151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私钥丢失/被盗(~15-20%BTC已永久丢失)</a:t>
            </a:r>
            <a:br/>
            <a:r>
              <a:t>钓鱼攻击</a:t>
            </a:r>
            <a:br/>
            <a:r>
              <a:t>人为错误(助记词遗失)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331720"/>
            <a:ext cx="42976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368296"/>
            <a:ext cx="4151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挪用(FTX)</a:t>
            </a:r>
            <a:br/>
            <a:r>
              <a:t>黑客攻击</a:t>
            </a:r>
            <a:br/>
            <a:r>
              <a:t>政策冻结</a:t>
            </a:r>
            <a:br/>
            <a:r>
              <a:t>银行风险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5176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6883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责任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651760"/>
            <a:ext cx="42976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2" y="2688336"/>
            <a:ext cx="4151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100%自己负责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2651760"/>
            <a:ext cx="42976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2688336"/>
            <a:ext cx="4151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托管方责任（合规+有保险的情况下）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7180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083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适用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2971800"/>
            <a:ext cx="42976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07792" y="3008376"/>
            <a:ext cx="4151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长期大额存储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2971800"/>
            <a:ext cx="429768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3008376"/>
            <a:ext cx="4151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日常交易、新手入门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9184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3284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最佳实践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291840"/>
            <a:ext cx="42976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07792" y="3328416"/>
            <a:ext cx="4151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多签(2/3) | MPC分片 | 硬件钱包 | 助记词物理备份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3291840"/>
            <a:ext cx="429768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3328416"/>
            <a:ext cx="4151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选择受监管合规托管方 | 分散存放 | 了解保险覆盖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7 ·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全球监管全景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55/62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3716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95681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Microsoft YaHei"/>
              </a:defRPr>
            </a:pPr>
            <a:r>
              <a:t>国家/地区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920240"/>
            <a:ext cx="22860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93392" y="19568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Microsoft YaHei"/>
              </a:defRPr>
            </a:pPr>
            <a:r>
              <a:t>监管态度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920240"/>
            <a:ext cx="7315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392" y="1956816"/>
            <a:ext cx="7168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Microsoft YaHei"/>
              </a:defRPr>
            </a:pPr>
            <a:r>
              <a:t>主要进展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1371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27685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🇺🇸 美国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24028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93392" y="22768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逐步明晰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240280"/>
            <a:ext cx="7315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2276856"/>
            <a:ext cx="7168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现货BTC/ETH ETF获批；SEC+CFTC双监管；FIT21法案推进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1371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59689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🇪🇺 欧盟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256032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93392" y="25968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最全面框架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560320"/>
            <a:ext cx="7315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2596896"/>
            <a:ext cx="7168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MiCA 2024全面生效——最完善的加密资产市场法规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80360"/>
            <a:ext cx="1371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91693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🇭🇰 香港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288036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93392" y="291693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积极拥抱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880360"/>
            <a:ext cx="7315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2916936"/>
            <a:ext cx="7168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2023新牌照制度；2024批准现货BTC/ETH ETF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00400"/>
            <a:ext cx="1371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23697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🇸🇬 新加坡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320040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93392" y="32369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严格但明确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200400"/>
            <a:ext cx="7315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9392" y="3236976"/>
            <a:ext cx="7168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MAS支付服务法监管；潜力Web3中心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520440"/>
            <a:ext cx="1371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55701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🇯🇵 日本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3520440"/>
            <a:ext cx="22860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93392" y="355701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支持Web3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520440"/>
            <a:ext cx="7315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79392" y="3557016"/>
            <a:ext cx="7168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Web3国家战略；税收改革推进；交易所持牌经营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840480"/>
            <a:ext cx="1371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3877056"/>
            <a:ext cx="1225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🇨🇳 中国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20240" y="3840480"/>
            <a:ext cx="22860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93392" y="38770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禁止交易/挖矿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840480"/>
            <a:ext cx="7315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79392" y="3877056"/>
            <a:ext cx="7168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2021全面禁令；大力推动数字人民币和联盟链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84632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1A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937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🔑 关键洞察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2120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监管不是加密的敌人——明确的监管框架带来合规资金流入、机构参与和行业规范化。真正的问题是监管真空带来的不确定性。</a:t>
            </a:r>
            <a:br/>
            <a:r>
              <a:t>核心关注点：交易所许可 | 稳定币储备与赎回 | 证券属性认定(Howey Test) | 托管方资质 | AML/KYC | 资本利得税。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7 ·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独立研究检查清单（1/2）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56/62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6576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219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828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482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检查项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011680"/>
            <a:ext cx="36576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204825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关键问题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029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4825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风险信号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3657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368296"/>
            <a:ext cx="219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33172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36829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问题必要性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331720"/>
            <a:ext cx="3657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36829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项目解决什么问题？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31720"/>
            <a:ext cx="5029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36829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不需要区块链也能解决的问题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51760"/>
            <a:ext cx="3657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88336"/>
            <a:ext cx="219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265176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268833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团队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651760"/>
            <a:ext cx="3657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6352" y="268833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团队公开吗？有经验吗？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51760"/>
            <a:ext cx="5029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268833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匿名团队+无历史记录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971800"/>
            <a:ext cx="3657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008376"/>
            <a:ext cx="219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297180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300837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代码审计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2971800"/>
            <a:ext cx="3657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16352" y="300837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开源吗？通过哪些审计？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971800"/>
            <a:ext cx="5029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300837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闭源+无审计报告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91840"/>
            <a:ext cx="3657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328416"/>
            <a:ext cx="219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329184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332841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Token经济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3291840"/>
            <a:ext cx="3657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16352" y="332841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Token分配合理？谁持有最多？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291840"/>
            <a:ext cx="5029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332841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团队/VC持有&gt;50%，解锁时间短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611880"/>
            <a:ext cx="3657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3648456"/>
            <a:ext cx="219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361188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" y="36484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真实用户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3611880"/>
            <a:ext cx="3657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16352" y="364845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真实需求还是补贴驱动？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611880"/>
            <a:ext cx="5029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3952" y="364845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补贴停止后TVL/用户崩塌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7 ·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独立研究检查清单（2/2）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57/62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6576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219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828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482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检查项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011680"/>
            <a:ext cx="36576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204825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关键问题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029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4825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风险信号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3657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368296"/>
            <a:ext cx="219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33172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36829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收入模型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331720"/>
            <a:ext cx="3657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36829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协议有持续收入吗？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31720"/>
            <a:ext cx="5029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36829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唯一收入来源=发行新Token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51760"/>
            <a:ext cx="3657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688336"/>
            <a:ext cx="219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265176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268833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监管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651760"/>
            <a:ext cx="3657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6352" y="268833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Token是否可能被认定证券？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51760"/>
            <a:ext cx="5029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268833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无法律分析+无合规措施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971800"/>
            <a:ext cx="3657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008376"/>
            <a:ext cx="219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297180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300837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托管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2971800"/>
            <a:ext cx="3657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16352" y="300837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谁控制私钥/管理员密钥？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971800"/>
            <a:ext cx="5029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300837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单一实体/服务器控制核心密钥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91840"/>
            <a:ext cx="36576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3328416"/>
            <a:ext cx="219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3291840"/>
            <a:ext cx="1828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332841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安全历史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3291840"/>
            <a:ext cx="36576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16352" y="332841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有无安全事件？如何处理的？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291840"/>
            <a:ext cx="5029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332841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有未解决的安全问题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611880"/>
            <a:ext cx="36576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3648456"/>
            <a:ext cx="219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3611880"/>
            <a:ext cx="1828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" y="364845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依赖风险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3611880"/>
            <a:ext cx="36576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16352" y="3648456"/>
            <a:ext cx="35112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依赖哪些外部组件？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611880"/>
            <a:ext cx="5029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3952" y="3648456"/>
            <a:ext cx="4882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高度依赖单一未审计的桥/预言机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303520"/>
            <a:ext cx="10972800" cy="1097280"/>
          </a:xfrm>
          <a:prstGeom prst="roundRect">
            <a:avLst>
              <a:gd name="adj" fmla="val 4000"/>
            </a:avLst>
          </a:prstGeom>
          <a:solidFill>
            <a:srgbClr val="1A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5394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Microsoft YaHei"/>
              </a:defRPr>
            </a:pPr>
            <a:r>
              <a:t>🔑 关键洞察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669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这套「十问」方法是教人钓鱼——培训的目的不是告诉大家哪个项目好或坏，而是让每个人有能力独立做判断。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10B981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Microsoft YaHei"/>
              </a:defRPr>
            </a:pPr>
            <a:r>
              <a:t>未来趋势与总结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BTC 长期叙事 · 五个确定性趋势 · 矿业与AI融合 · 十五年一轮回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846320"/>
            <a:ext cx="2743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58/62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8 ·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BTC 长期定位：非主权稀缺资产的全球化叙事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59/62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64327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32004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🎯 三大叙事支柱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5044287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① 非主权资产——不隶属任何政府/国家，无法被单一实体没收或冻结</a:t>
            </a:r>
            <a:br/>
            <a:r>
              <a:t>② 绝对稀缺——2100万，数学保证，无法被任何人改变</a:t>
            </a:r>
            <a:br/>
            <a:r>
              <a:t>③ 全球可访问——有互联网连接就能持有、接收和转移</a:t>
            </a:r>
            <a:br/>
            <a:br/>
            <a:r>
              <a:t>潜在路径：全球战略储备资产 | 结算网络基础层 | 机构/主权基金配置标配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1920240"/>
            <a:ext cx="5364327" cy="32004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7" y="1920240"/>
            <a:ext cx="54864" cy="3200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029968"/>
            <a:ext cx="50442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🔮 四种风险情景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395728"/>
            <a:ext cx="5044287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① 被大多数国家联合禁止——部分国家已禁止，但全球共识难达成</a:t>
            </a:r>
            <a:br/>
            <a:r>
              <a:t>② 量子计算突破——威胁SHA-256/ECDSA，至少需10-20年，社区可迁移</a:t>
            </a:r>
            <a:br/>
            <a:r>
              <a:t>③ 更好的替代资产出现——AI时代可能出现新的稀缺形式</a:t>
            </a:r>
            <a:br/>
            <a:r>
              <a:t>④ 自身经济模型无法维持长期安全——手续费能否足够？（开放问题）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8 ·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五个确定性趋势 (2025-2035)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60/62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15258" cy="29260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1. 稳定币成为全球链上美元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319521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跨境支付、抗通胀、AI Agent支付、DeFi基础资产——四个方向的PMF持续巩固。</a:t>
            </a:r>
            <a:br/>
            <a:br/>
            <a:r>
              <a:t>AI驱动的「机器经济」最可能采用稳定币作为计价/支付媒介。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6778" y="1920240"/>
            <a:ext cx="3515258" cy="29260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46778" y="1920240"/>
            <a:ext cx="54864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9658" y="202996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2. RWA与传统金融融合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395728"/>
            <a:ext cx="319521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国债→信贷→大宗商品→房地产——数万亿真实资产逐步上链。</a:t>
            </a:r>
            <a:br/>
            <a:r>
              <a:t>BlackRock CEO称代币化是「市场的下一代」。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44916" y="1920240"/>
            <a:ext cx="3515258" cy="29260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44916" y="1920240"/>
            <a:ext cx="54864" cy="2926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3. DeFi从补贴转向真实收益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796" y="2395728"/>
            <a:ext cx="319521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Token补贴退潮→手续费/利息/MEV成为主要收益。</a:t>
            </a:r>
            <a:br/>
            <a:r>
              <a:t>合规DeFi+传统金融链上化→走向成熟。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3515258" cy="29260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54864" cy="292608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3892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4. 矿业与AI/HPC融合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04688"/>
            <a:ext cx="319521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矿企基础设施→AI/HPC托管。收入多元化→抗周期增强。</a:t>
            </a:r>
            <a:br/>
            <a:r>
              <a:t>低电价仍是最核心竞争力。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6778" y="5029200"/>
            <a:ext cx="3515258" cy="292608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46778" y="5029200"/>
            <a:ext cx="54864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9658" y="5138928"/>
            <a:ext cx="3195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5. 监管清晰化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9658" y="5504688"/>
            <a:ext cx="319521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明确规则→合规资金流入→机构化→基础设施成熟。</a:t>
            </a:r>
            <a:br/>
            <a:r>
              <a:t>MiCA/FIT21为全球提供模板。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926080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2E8F0"/>
                </a:solidFill>
                <a:latin typeface="Arial"/>
              </a:defRPr>
            </a:pPr>
            <a:r>
              <a:t>PART 8 ·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Microsoft YaHei"/>
              </a:defRPr>
            </a:pPr>
            <a:r>
              <a:t>技术演进路线图 &amp; AI x 区块链融合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61/62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7432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482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技术方向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2011680"/>
            <a:ext cx="4114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2" y="2048256"/>
            <a:ext cx="3968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BTC 生态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011680"/>
            <a:ext cx="4114800" cy="320040"/>
          </a:xfrm>
          <a:prstGeom prst="rect">
            <a:avLst/>
          </a:prstGeom>
          <a:solidFill>
            <a:srgbClr val="F7931A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2048256"/>
            <a:ext cx="3968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0000"/>
                </a:solidFill>
                <a:latin typeface="Microsoft YaHei"/>
              </a:defRPr>
            </a:pPr>
            <a:r>
              <a:t>Ethereum/通用生态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36829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扩容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331720"/>
            <a:ext cx="4114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2368296"/>
            <a:ext cx="3968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Lightning路由优化；BTC Rollup(BitVM)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331720"/>
            <a:ext cx="4114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2368296"/>
            <a:ext cx="3968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L2以Rollup为中心；数据可用性采样(DAS)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5176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68833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智能合约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651760"/>
            <a:ext cx="4114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2" y="2688336"/>
            <a:ext cx="3968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BitVM乐观验证；比特币L2智能合约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651760"/>
            <a:ext cx="4114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2688336"/>
            <a:ext cx="3968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zkEVM最终化；账户抽象(AA)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7180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00837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跨链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971800"/>
            <a:ext cx="4114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3008376"/>
            <a:ext cx="3968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比特币→其他链的信任最小化桥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971800"/>
            <a:ext cx="4114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3008376"/>
            <a:ext cx="3968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意图桥(Intent Bridge)替代锁定桥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9184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32841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抗量子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291840"/>
            <a:ext cx="4114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64992" y="3328416"/>
            <a:ext cx="3968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NIST后量子标准→签名算法逐步迁移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291840"/>
            <a:ext cx="41148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9792" y="3328416"/>
            <a:ext cx="3968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各链签名算法迁移计划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611880"/>
            <a:ext cx="27432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648456"/>
            <a:ext cx="2596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AI融合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3611880"/>
            <a:ext cx="4114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64992" y="3648456"/>
            <a:ext cx="3968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Lightning→AI Agent微支付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3611880"/>
            <a:ext cx="4114800" cy="3200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79792" y="3648456"/>
            <a:ext cx="3968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ZKML→链上AI推理验证；Agent经济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846320"/>
            <a:ext cx="1097280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84632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956048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🎯 AI Agent支付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21808"/>
            <a:ext cx="10652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10年内AI Agent之间的自动支付可能超过人类的链上支付。</a:t>
            </a:r>
            <a:br/>
            <a:r>
              <a:t>支付层更可能基于稳定币/L2——BTC L1不适合微支付，但BTC作为长期结算和价值存储资产保持独特定位。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64327" y="73152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7931A"/>
                </a:solidFill>
                <a:latin typeface="Arial"/>
              </a:defRPr>
            </a:pPr>
            <a:r>
              <a:t>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2E8F0"/>
                </a:solidFill>
                <a:latin typeface="Microsoft YaHei"/>
              </a:defRPr>
            </a:pPr>
            <a:r>
              <a:t>总结与思考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54864" cy="2743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0156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💡 核心收获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67328"/>
            <a:ext cx="4709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• Bitcoin是密码朋克数十年思想和技术的集大成者——一种用密码学和经济激励替代信任中介的全新价值传递范式</a:t>
            </a:r>
            <a:br/>
            <a:br/>
            <a:r>
              <a:t>• 理解Bitcoin的关键在于理解它的设计取舍：慢是因为要验证，贵是因为要安全，不变是因为要可信——这些不是Bug，是Features</a:t>
            </a:r>
            <a:br/>
            <a:br/>
            <a:r>
              <a:t>• 区块链已从单一加密资产演变为完整的多层产业——要像理解TCP/IP/HTTP一样理解它作为价值互联网底层协议的本质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 w="1270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3291840"/>
            <a:ext cx="54864" cy="2743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401568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Microsoft YaHei"/>
              </a:defRPr>
            </a:pPr>
            <a:r>
              <a:t>🔮 值得思考的问题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67328"/>
            <a:ext cx="47091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• BTC会成为全球储备资产还是全球支付网络？</a:t>
            </a:r>
            <a:br/>
            <a:br/>
            <a:r>
              <a:t>• 2140年全部挖完后，手续费能否维持网络安全？</a:t>
            </a:r>
            <a:br/>
            <a:br/>
            <a:r>
              <a:t>• 隐私(ZKP)与监管(KYC/AML)如何平衡？</a:t>
            </a:r>
            <a:br/>
            <a:br/>
            <a:r>
              <a:t>• 量子计算何时能威胁现有密码学？</a:t>
            </a:r>
            <a:br/>
            <a:br/>
            <a:r>
              <a:t>• 区块链最终会像互联网一样「无处不在且不可见」吗？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636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2009.1.3 创世区块泰晤士报标题 —— 2024.1.10 SEC批准现货BTC ETF</a:t>
            </a:r>
            <a:br/>
            <a:r>
              <a:t>十五年一轮回。从对传统金融的无声抗议，到被同一个体系所接纳。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9224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7931A"/>
                </a:solidFill>
                <a:latin typeface="Microsoft YaHei"/>
              </a:defRPr>
            </a:pPr>
            <a:r>
              <a:t>Don't trust, verify. 感谢聆听 · 欢迎讨论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rial"/>
              </a:defRPr>
            </a:pPr>
            <a:r>
              <a:t>62/62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